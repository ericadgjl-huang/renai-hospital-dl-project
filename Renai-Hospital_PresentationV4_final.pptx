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8" r:id="rId3"/>
    <p:sldId id="259" r:id="rId4"/>
    <p:sldId id="260" r:id="rId5"/>
    <p:sldId id="261" r:id="rId6"/>
    <p:sldId id="271" r:id="rId7"/>
    <p:sldId id="262" r:id="rId8"/>
    <p:sldId id="272" r:id="rId9"/>
    <p:sldId id="273" r:id="rId10"/>
    <p:sldId id="263" r:id="rId11"/>
    <p:sldId id="264" r:id="rId12"/>
    <p:sldId id="265" r:id="rId13"/>
    <p:sldId id="266" r:id="rId14"/>
    <p:sldId id="274" r:id="rId15"/>
    <p:sldId id="267" r:id="rId16"/>
    <p:sldId id="268" r:id="rId17"/>
    <p:sldId id="270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21" autoAdjust="0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96" y="1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830941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1097280"/>
            <a:ext cx="3200400" cy="3200400"/>
          </a:xfrm>
          <a:prstGeom prst="ellipse">
            <a:avLst/>
          </a:prstGeom>
          <a:solidFill>
            <a:srgbClr val="065A82">
              <a:alpha val="40000"/>
            </a:srgbClr>
          </a:solidFill>
          <a:ln w="12700">
            <a:solidFill>
              <a:srgbClr val="065A82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0" y="-548640"/>
            <a:ext cx="2011680" cy="2011680"/>
          </a:xfrm>
          <a:prstGeom prst="ellipse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640080"/>
            <a:ext cx="2926080" cy="34747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00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仁愛醫院骨科 × 深度學習研究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23444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髖關節 X 光影像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 err="1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Ficat</a:t>
            </a:r>
            <a:r>
              <a:rPr lang="en-US" sz="3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分</a:t>
            </a:r>
            <a:r>
              <a:rPr lang="zh-TW" altLang="en-US" sz="3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級</a:t>
            </a:r>
            <a:r>
              <a:rPr lang="en-US" sz="3400" b="1" dirty="0" err="1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深度學習系統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02920" y="2487168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 X-Ray Ficat Staging — Deep Learning Classification System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999232"/>
            <a:ext cx="411480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3200400"/>
            <a:ext cx="1737360" cy="347472"/>
          </a:xfrm>
          <a:prstGeom prst="roundRect">
            <a:avLst>
              <a:gd name="adj" fmla="val 13158"/>
            </a:avLst>
          </a:prstGeom>
          <a:solidFill>
            <a:srgbClr val="065A82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2004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23160" y="3200400"/>
            <a:ext cx="1737360" cy="347472"/>
          </a:xfrm>
          <a:prstGeom prst="roundRect">
            <a:avLst>
              <a:gd name="adj" fmla="val 13158"/>
            </a:avLst>
          </a:prstGeom>
          <a:solidFill>
            <a:srgbClr val="065A82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32004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TW" sz="1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model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43400" y="3200400"/>
            <a:ext cx="1737360" cy="347472"/>
          </a:xfrm>
          <a:prstGeom prst="roundRect">
            <a:avLst>
              <a:gd name="adj" fmla="val 13158"/>
            </a:avLst>
          </a:prstGeom>
          <a:solidFill>
            <a:srgbClr val="065A82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43400" y="32004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63640" y="3200400"/>
            <a:ext cx="1737360" cy="347472"/>
          </a:xfrm>
          <a:prstGeom prst="roundRect">
            <a:avLst>
              <a:gd name="adj" fmla="val 13158"/>
            </a:avLst>
          </a:prstGeom>
          <a:solidFill>
            <a:srgbClr val="065A82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6263640" y="32004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448056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Ficat Classification Stage 1–4  ·  仁愛醫院骨科  ·  2025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研究動機與目標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臨床痛點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060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11556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65760" y="161848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耗時費力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892808"/>
            <a:ext cx="2606040" cy="457200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人工判讀 X 光影像需要豐富臨床經驗，耗費大量時間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5760" y="260604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研究目標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365760" y="3017520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3017520"/>
            <a:ext cx="502920" cy="7498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3017520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60120" y="3017520"/>
            <a:ext cx="3429000" cy="274320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自動化 ROI 偵測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60120" y="3291840"/>
            <a:ext cx="3429000" cy="438912"/>
          </a:xfrm>
          <a:prstGeom prst="rect">
            <a:avLst/>
          </a:prstGeom>
          <a:noFill/>
          <a:ln/>
        </p:spPr>
        <p:txBody>
          <a:bodyPr wrap="square" lIns="0" tIns="5080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利用 YOLOv8 自動從髖關節 X 光中定位並裁切股骨頭區域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3017520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9160" y="3017520"/>
            <a:ext cx="502920" cy="7498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09160" y="3017520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03520" y="3017520"/>
            <a:ext cx="3429000" cy="274320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精準 </a:t>
            </a:r>
            <a:r>
              <a:rPr lang="en-US" sz="13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Ficat</a:t>
            </a: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分</a:t>
            </a:r>
            <a:r>
              <a:rPr lang="zh-TW" altLang="en-US" sz="1300" b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級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03520" y="3291840"/>
            <a:ext cx="3429000" cy="438912"/>
          </a:xfrm>
          <a:prstGeom prst="rect">
            <a:avLst/>
          </a:prstGeom>
          <a:noFill/>
          <a:ln/>
        </p:spPr>
        <p:txBody>
          <a:bodyPr wrap="square" lIns="0" tIns="5080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建立階層式深度學習分類模型，自動判斷 Stage 1-4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3886200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65760" y="3886200"/>
            <a:ext cx="502920" cy="7498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3886200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60120" y="38862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zh-TW" alt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視覺化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60120" y="4160520"/>
            <a:ext cx="3429000" cy="438912"/>
          </a:xfrm>
          <a:prstGeom prst="rect">
            <a:avLst/>
          </a:prstGeom>
          <a:noFill/>
          <a:ln/>
        </p:spPr>
        <p:txBody>
          <a:bodyPr wrap="square" lIns="0" tIns="5080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透過 Grad-CAM </a:t>
            </a:r>
            <a:r>
              <a:rPr lang="en-US" sz="110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提供視覺化解釋，輔助醫師診斷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09160" y="3886200"/>
            <a:ext cx="41148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09160" y="3886200"/>
            <a:ext cx="502920" cy="7498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09160" y="3886200"/>
            <a:ext cx="502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303520" y="38862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臨床整合應用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303520" y="4160520"/>
            <a:ext cx="3429000" cy="438912"/>
          </a:xfrm>
          <a:prstGeom prst="rect">
            <a:avLst/>
          </a:prstGeom>
          <a:noFill/>
          <a:ln/>
        </p:spPr>
        <p:txBody>
          <a:bodyPr wrap="square" lIns="0" tIns="5080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開發 Web 系統，實現影像上傳、自動判讀與報告生成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資料集說明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資料來源：仁愛醫院骨科門診 X 光影像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2606040" cy="12801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0972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287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" y="178308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總影像數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2039112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髖關節 X 光片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0" y="1051560"/>
            <a:ext cx="2606040" cy="12801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00400" y="109728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3200400" y="1783080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</a:t>
            </a:r>
            <a:r>
              <a:rPr lang="zh-TW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級</a:t>
            </a: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類別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00400" y="2039112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Ficat Stage 1-4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" y="251460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各分</a:t>
            </a:r>
            <a:r>
              <a:rPr lang="zh-TW" alt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級</a:t>
            </a:r>
            <a:r>
              <a:rPr lang="en-US" sz="15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資料分佈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65760" y="2926080"/>
            <a:ext cx="19202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" y="2926080"/>
            <a:ext cx="1920240" cy="34747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29260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65760" y="331012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3800" dirty="0"/>
          </a:p>
        </p:txBody>
      </p:sp>
      <p:sp>
        <p:nvSpPr>
          <p:cNvPr id="23" name="Text 21"/>
          <p:cNvSpPr/>
          <p:nvPr/>
        </p:nvSpPr>
        <p:spPr>
          <a:xfrm>
            <a:off x="365760" y="399592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影像數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422452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2468880" y="2926080"/>
            <a:ext cx="19202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468880" y="2926080"/>
            <a:ext cx="1920240" cy="34747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68880" y="29260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468880" y="331012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3800" dirty="0"/>
          </a:p>
        </p:txBody>
      </p:sp>
      <p:sp>
        <p:nvSpPr>
          <p:cNvPr id="29" name="Text 27"/>
          <p:cNvSpPr/>
          <p:nvPr/>
        </p:nvSpPr>
        <p:spPr>
          <a:xfrm>
            <a:off x="2468880" y="399592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影像數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468880" y="422452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4572000" y="2926080"/>
            <a:ext cx="19202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572000" y="2926080"/>
            <a:ext cx="1920240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0" y="29260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572000" y="331012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3800" dirty="0"/>
          </a:p>
        </p:txBody>
      </p:sp>
      <p:sp>
        <p:nvSpPr>
          <p:cNvPr id="35" name="Text 33"/>
          <p:cNvSpPr/>
          <p:nvPr/>
        </p:nvSpPr>
        <p:spPr>
          <a:xfrm>
            <a:off x="4572000" y="399592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影像數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72000" y="422452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2200" dirty="0"/>
          </a:p>
        </p:txBody>
      </p:sp>
      <p:sp>
        <p:nvSpPr>
          <p:cNvPr id="37" name="Shape 35"/>
          <p:cNvSpPr/>
          <p:nvPr/>
        </p:nvSpPr>
        <p:spPr>
          <a:xfrm>
            <a:off x="6675120" y="2926080"/>
            <a:ext cx="192024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675120" y="2926080"/>
            <a:ext cx="1920240" cy="347472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75120" y="29260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675120" y="331012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3800" dirty="0"/>
          </a:p>
        </p:txBody>
      </p:sp>
      <p:sp>
        <p:nvSpPr>
          <p:cNvPr id="41" name="Text 39"/>
          <p:cNvSpPr/>
          <p:nvPr/>
        </p:nvSpPr>
        <p:spPr>
          <a:xfrm>
            <a:off x="6675120" y="399592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影像數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422452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百分比由四捨五入取得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系統架構總覽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59436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Binary Classification Pipeline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43484" y="1005840"/>
            <a:ext cx="1261872" cy="3291840"/>
          </a:xfrm>
          <a:prstGeom prst="rect">
            <a:avLst/>
          </a:prstGeom>
          <a:solidFill>
            <a:srgbClr val="4A5568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43484" y="1005840"/>
            <a:ext cx="1261872" cy="347472"/>
          </a:xfrm>
          <a:prstGeom prst="rect">
            <a:avLst/>
          </a:prstGeom>
          <a:solidFill>
            <a:srgbClr val="000000">
              <a:alpha val="40000"/>
            </a:srgbClr>
          </a:solidFill>
          <a:ln w="12700">
            <a:solidFill>
              <a:srgbClr val="000000">
                <a:alpha val="4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3484" y="1005840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43484" y="141732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43484" y="1993392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X-Ray 輸入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43484" y="2423160"/>
            <a:ext cx="1261872" cy="868680"/>
          </a:xfrm>
          <a:prstGeom prst="rect">
            <a:avLst/>
          </a:prstGeom>
          <a:noFill/>
          <a:ln/>
        </p:spPr>
        <p:txBody>
          <a:bodyPr wrap="square" lIns="0" tIns="0" rIns="5080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髖關節正面 X 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705356" y="219456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842516" y="1005840"/>
            <a:ext cx="1261872" cy="3291840"/>
          </a:xfrm>
          <a:prstGeom prst="rect">
            <a:avLst/>
          </a:prstGeom>
          <a:solidFill>
            <a:srgbClr val="065A82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1842516" y="1005840"/>
            <a:ext cx="1261872" cy="347472"/>
          </a:xfrm>
          <a:prstGeom prst="rect">
            <a:avLst/>
          </a:prstGeom>
          <a:solidFill>
            <a:srgbClr val="000000">
              <a:alpha val="40000"/>
            </a:srgbClr>
          </a:solidFill>
          <a:ln w="12700">
            <a:solidFill>
              <a:srgbClr val="000000">
                <a:alpha val="4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42516" y="1005840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842516" y="141732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842516" y="1993392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偵測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42516" y="2423160"/>
            <a:ext cx="1261872" cy="868680"/>
          </a:xfrm>
          <a:prstGeom prst="rect">
            <a:avLst/>
          </a:prstGeom>
          <a:noFill/>
          <a:ln/>
        </p:spPr>
        <p:txBody>
          <a:bodyPr wrap="square" lIns="0" tIns="0" rIns="5080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自動定位股骨頭 ROI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104388" y="219456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241548" y="1005840"/>
            <a:ext cx="1261872" cy="3291840"/>
          </a:xfrm>
          <a:prstGeom prst="rect">
            <a:avLst/>
          </a:prstGeom>
          <a:solidFill>
            <a:srgbClr val="7B341E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41548" y="1005840"/>
            <a:ext cx="1261872" cy="347472"/>
          </a:xfrm>
          <a:prstGeom prst="rect">
            <a:avLst/>
          </a:prstGeom>
          <a:solidFill>
            <a:srgbClr val="000000">
              <a:alpha val="40000"/>
            </a:srgbClr>
          </a:solidFill>
          <a:ln w="12700">
            <a:solidFill>
              <a:srgbClr val="000000">
                <a:alpha val="4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41548" y="1005840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241548" y="141732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3241548" y="1993392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 分類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41548" y="2423160"/>
            <a:ext cx="1261872" cy="868680"/>
          </a:xfrm>
          <a:prstGeom prst="rect">
            <a:avLst/>
          </a:prstGeom>
          <a:noFill/>
          <a:ln/>
        </p:spPr>
        <p:txBody>
          <a:bodyPr wrap="square" lIns="0" tIns="0" rIns="5080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DenseNet121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嚴重 vs. 其他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03420" y="219456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640580" y="1005840"/>
            <a:ext cx="1261872" cy="3291840"/>
          </a:xfrm>
          <a:prstGeom prst="rect">
            <a:avLst/>
          </a:prstGeom>
          <a:solidFill>
            <a:srgbClr val="276749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40580" y="1005840"/>
            <a:ext cx="1261872" cy="347472"/>
          </a:xfrm>
          <a:prstGeom prst="rect">
            <a:avLst/>
          </a:prstGeom>
          <a:solidFill>
            <a:srgbClr val="000000">
              <a:alpha val="40000"/>
            </a:srgbClr>
          </a:solidFill>
          <a:ln w="12700">
            <a:solidFill>
              <a:srgbClr val="000000">
                <a:alpha val="4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40580" y="1005840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640580" y="141732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4640580" y="1993392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分類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640580" y="2423160"/>
            <a:ext cx="1261872" cy="868680"/>
          </a:xfrm>
          <a:prstGeom prst="rect">
            <a:avLst/>
          </a:prstGeom>
          <a:noFill/>
          <a:ln/>
        </p:spPr>
        <p:txBody>
          <a:bodyPr wrap="square" lIns="0" tIns="0" rIns="5080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Ensemble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輕微 vs. 其他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902452" y="219456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039612" y="1005840"/>
            <a:ext cx="1261872" cy="3291840"/>
          </a:xfrm>
          <a:prstGeom prst="rect">
            <a:avLst/>
          </a:prstGeom>
          <a:solidFill>
            <a:srgbClr val="7B6002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039612" y="1005840"/>
            <a:ext cx="1261872" cy="347472"/>
          </a:xfrm>
          <a:prstGeom prst="rect">
            <a:avLst/>
          </a:prstGeom>
          <a:solidFill>
            <a:srgbClr val="000000">
              <a:alpha val="40000"/>
            </a:srgbClr>
          </a:solidFill>
          <a:ln w="12700">
            <a:solidFill>
              <a:srgbClr val="000000">
                <a:alpha val="40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039612" y="1005840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3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039612" y="141732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6039612" y="1993392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2/3 分類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039612" y="2423160"/>
            <a:ext cx="1261872" cy="868680"/>
          </a:xfrm>
          <a:prstGeom prst="rect">
            <a:avLst/>
          </a:prstGeom>
          <a:noFill/>
          <a:ln/>
        </p:spPr>
        <p:txBody>
          <a:bodyPr wrap="square" lIns="0" tIns="0" rIns="5080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DenseNet121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中期判斷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01484" y="219456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438644" y="1005840"/>
            <a:ext cx="1261872" cy="3291840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438644" y="1005840"/>
            <a:ext cx="1261872" cy="347472"/>
          </a:xfrm>
          <a:prstGeom prst="rect">
            <a:avLst/>
          </a:prstGeom>
          <a:solidFill>
            <a:srgbClr val="000000">
              <a:alpha val="40000"/>
            </a:srgbClr>
          </a:solidFill>
          <a:ln w="12700">
            <a:solidFill>
              <a:srgbClr val="000000">
                <a:alpha val="40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38644" y="1005840"/>
            <a:ext cx="1261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438644" y="1417320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400" dirty="0"/>
          </a:p>
        </p:txBody>
      </p:sp>
      <p:sp>
        <p:nvSpPr>
          <p:cNvPr id="45" name="Text 43"/>
          <p:cNvSpPr/>
          <p:nvPr/>
        </p:nvSpPr>
        <p:spPr>
          <a:xfrm>
            <a:off x="7438644" y="1993392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</a:t>
            </a:r>
            <a:r>
              <a:rPr lang="zh-TW" alt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級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438644" y="2423160"/>
            <a:ext cx="1261872" cy="868680"/>
          </a:xfrm>
          <a:prstGeom prst="rect">
            <a:avLst/>
          </a:prstGeom>
          <a:noFill/>
          <a:ln/>
        </p:spPr>
        <p:txBody>
          <a:bodyPr wrap="square" lIns="0" tIns="0" rIns="5080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+ 熱力圖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65760" y="4434840"/>
            <a:ext cx="8412480" cy="594360"/>
          </a:xfrm>
          <a:prstGeom prst="rect">
            <a:avLst/>
          </a:prstGeom>
          <a:solidFill>
            <a:srgbClr val="1A3A4A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2920" y="443484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分類邏輯：Model 1 → 若 Stage 4: 直接輸出；否則 Model 2 → 若 Stage 1: 輸出；否則 Model 3 → 判斷 Stage 2 or 3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模組一：ROI 偵測  (YOLOv8)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77953" y="658368"/>
            <a:ext cx="41148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658368"/>
            <a:ext cx="64008" cy="42062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77724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為何需要 ROI 偵測？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30352" y="1170432"/>
            <a:ext cx="3840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髖關節 X 光包含骨盆、股骨幹等多個結構，直接送入分類模型會引入大量無關背景雜訊。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偵測的三大優勢：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聚焦病灶區域，提升模型準確率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標準化輸入尺寸，降低訓練難度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支援雙側股骨頭自動同步偵測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30352" y="37490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設定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30352" y="4096512"/>
            <a:ext cx="3840480" cy="18288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4096512"/>
            <a:ext cx="1371600" cy="182880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架構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901952" y="409651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 / YOLOv8s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0352" y="4279392"/>
            <a:ext cx="38404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42793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marL="0" indent="0" algn="l">
              <a:buNone/>
            </a:pPr>
            <a:r>
              <a:rPr lang="zh-TW" altLang="en-US" sz="1100" dirty="0">
                <a:solidFill>
                  <a:srgbClr val="4A5568"/>
                </a:solidFill>
                <a:latin typeface="Calibri" pitchFamily="34" charset="0"/>
                <a:cs typeface="Calibri" pitchFamily="34" charset="-120"/>
              </a:rPr>
              <a:t>偵測目標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901952" y="427939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髖關節</a:t>
            </a:r>
            <a:r>
              <a:rPr lang="en-US" altLang="zh-TW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</a:t>
            </a:r>
            <a:r>
              <a:rPr lang="zh-TW" alt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zh-TW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r>
              <a:rPr lang="zh-TW" altLang="en-US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不分左右</a:t>
            </a:r>
            <a:r>
              <a:rPr lang="en-US" altLang="zh-TW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altLang="zh-TW" sz="1100" dirty="0"/>
          </a:p>
        </p:txBody>
      </p:sp>
      <p:sp>
        <p:nvSpPr>
          <p:cNvPr id="16" name="Shape 14"/>
          <p:cNvSpPr/>
          <p:nvPr/>
        </p:nvSpPr>
        <p:spPr>
          <a:xfrm>
            <a:off x="530352" y="4462272"/>
            <a:ext cx="3840480" cy="18288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530352" y="44622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r>
              <a:rPr lang="en-US" altLang="zh-TW" sz="110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輸出</a:t>
            </a:r>
            <a:endParaRPr lang="en-US" altLang="zh-TW" sz="1100" dirty="0"/>
          </a:p>
        </p:txBody>
      </p:sp>
      <p:sp>
        <p:nvSpPr>
          <p:cNvPr id="18" name="Text 16"/>
          <p:cNvSpPr/>
          <p:nvPr/>
        </p:nvSpPr>
        <p:spPr>
          <a:xfrm>
            <a:off x="1901952" y="446227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 + </a:t>
            </a:r>
            <a:r>
              <a:rPr lang="en-US" altLang="zh-TW" sz="1100" b="1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裁切</a:t>
            </a:r>
            <a:r>
              <a:rPr lang="en-US" altLang="zh-TW" sz="11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ROI</a:t>
            </a:r>
            <a:endParaRPr lang="en-US" altLang="zh-TW" sz="1100" dirty="0"/>
          </a:p>
        </p:txBody>
      </p:sp>
      <p:sp>
        <p:nvSpPr>
          <p:cNvPr id="20" name="Text 18"/>
          <p:cNvSpPr/>
          <p:nvPr/>
        </p:nvSpPr>
        <p:spPr>
          <a:xfrm>
            <a:off x="530352" y="46451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50800" rIns="0" bIns="0" rtlCol="0" anchor="ctr"/>
          <a:lstStyle/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901952" y="464515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658368"/>
            <a:ext cx="41148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658368"/>
            <a:ext cx="64008" cy="4206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8032" y="77724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偵測流程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4828032" y="1261872"/>
            <a:ext cx="365760" cy="3657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8032" y="1261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10912" y="1627632"/>
            <a:ext cx="0" cy="256032"/>
          </a:xfrm>
          <a:prstGeom prst="line">
            <a:avLst/>
          </a:prstGeom>
          <a:noFill/>
          <a:ln w="1905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21808" y="126187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輸入原始 X 光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321808" y="146304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完整髖關節影像 (含骨盆)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28032" y="1883664"/>
            <a:ext cx="365760" cy="3657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28032" y="1883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010912" y="2249424"/>
            <a:ext cx="0" cy="256032"/>
          </a:xfrm>
          <a:prstGeom prst="line">
            <a:avLst/>
          </a:prstGeom>
          <a:noFill/>
          <a:ln w="19050">
            <a:solidFill>
              <a:srgbClr val="CBD5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21808" y="188366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推理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321808" y="208483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輸出雙側股骨頭 Bounding Box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828032" y="2505456"/>
            <a:ext cx="365760" cy="3657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28032" y="25054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010912" y="2871216"/>
            <a:ext cx="0" cy="256032"/>
          </a:xfrm>
          <a:prstGeom prst="line">
            <a:avLst/>
          </a:prstGeom>
          <a:noFill/>
          <a:ln w="19050">
            <a:solidFill>
              <a:srgbClr val="CBD5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21808" y="250545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信心度過濾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321808" y="2706624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 conf ≥ 0.5 的偵測框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828032" y="3127248"/>
            <a:ext cx="365760" cy="3657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28032" y="3127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321808" y="312724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裁切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321808" y="3328416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裁切並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resize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828032" y="3749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pic>
        <p:nvPicPr>
          <p:cNvPr id="49" name="圖片 48">
            <a:extLst>
              <a:ext uri="{FF2B5EF4-FFF2-40B4-BE49-F238E27FC236}">
                <a16:creationId xmlns:a16="http://schemas.microsoft.com/office/drawing/2014/main" id="{8B61B3B2-380E-FA89-DD31-1FECE48E6F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4355" y="2688336"/>
            <a:ext cx="2252474" cy="106416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vBg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itle"/>
          <p:cNvSpPr/>
          <p:nvPr/>
        </p:nvSpPr>
        <p:spPr>
          <a:xfrm>
            <a:off x="365760" y="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sz="1800" b="1" dirty="0">
                <a:solidFill>
                  <a:srgbClr val="FFFFFF"/>
                </a:solidFill>
                <a:latin typeface="Calibri" pitchFamily="34" charset="0"/>
              </a:rPr>
              <a:t>前處理：影像統一翻轉至同側</a:t>
            </a:r>
          </a:p>
        </p:txBody>
      </p:sp>
      <p:sp>
        <p:nvSpPr>
          <p:cNvPr id="4" name="SlideNum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zh-TW" altLang="en-US" sz="1600" dirty="0">
              <a:solidFill>
                <a:srgbClr val="02C39A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5" name="Card"/>
          <p:cNvSpPr/>
          <p:nvPr/>
        </p:nvSpPr>
        <p:spPr>
          <a:xfrm>
            <a:off x="320040" y="640080"/>
            <a:ext cx="4160520" cy="43159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Accent"/>
          <p:cNvSpPr/>
          <p:nvPr/>
        </p:nvSpPr>
        <p:spPr>
          <a:xfrm>
            <a:off x="320040" y="640080"/>
            <a:ext cx="64008" cy="43159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CardTitle"/>
          <p:cNvSpPr/>
          <p:nvPr/>
        </p:nvSpPr>
        <p:spPr>
          <a:xfrm>
            <a:off x="484632" y="713231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sz="1500" b="1" dirty="0">
                <a:solidFill>
                  <a:srgbClr val="065A82"/>
                </a:solidFill>
                <a:latin typeface="Calibri" pitchFamily="34" charset="0"/>
              </a:rPr>
              <a:t>為何需要統一翻轉？</a:t>
            </a:r>
          </a:p>
        </p:txBody>
      </p:sp>
      <p:sp>
        <p:nvSpPr>
          <p:cNvPr id="8" name="LeftBody"/>
          <p:cNvSpPr/>
          <p:nvPr/>
        </p:nvSpPr>
        <p:spPr>
          <a:xfrm>
            <a:off x="475488" y="1078992"/>
            <a:ext cx="3886200" cy="3749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sz="1300" b="1" dirty="0">
                <a:solidFill>
                  <a:srgbClr val="065A82"/>
                </a:solidFill>
                <a:latin typeface="Calibri" pitchFamily="34" charset="0"/>
              </a:rPr>
              <a:t>問題背景</a:t>
            </a:r>
          </a:p>
          <a:p>
            <a:pPr marL="0" indent="0" algn="l">
              <a:buNone/>
            </a:pPr>
            <a:endParaRPr lang="zh-TW" sz="1300" b="1" dirty="0">
              <a:solidFill>
                <a:srgbClr val="065A82"/>
              </a:solidFill>
              <a:latin typeface="Calibri" pitchFamily="34" charset="0"/>
            </a:endParaRPr>
          </a:p>
          <a:p>
            <a:pPr marL="0" indent="0" algn="l">
              <a:buNone/>
            </a:pPr>
            <a:r>
              <a:rPr lang="zh-TW" sz="1200" b="0" dirty="0">
                <a:solidFill>
                  <a:srgbClr val="1A202C"/>
                </a:solidFill>
                <a:latin typeface="Calibri" pitchFamily="34" charset="0"/>
              </a:rPr>
              <a:t>髖關節 X 光同時涵蓋左右兩側股骨頭。YOLOv8 裁切後，左側 ROI 與右側 ROI 呈鏡像關係。</a:t>
            </a:r>
          </a:p>
          <a:p>
            <a:pPr marL="0" indent="0" algn="l">
              <a:buNone/>
            </a:pPr>
            <a:endParaRPr lang="zh-TW" sz="1200" b="0" dirty="0">
              <a:solidFill>
                <a:srgbClr val="1A202C"/>
              </a:solidFill>
              <a:latin typeface="Calibri" pitchFamily="34" charset="0"/>
            </a:endParaRPr>
          </a:p>
          <a:p>
            <a:pPr marL="0" indent="0" algn="l">
              <a:buNone/>
            </a:pPr>
            <a:r>
              <a:rPr lang="zh-TW" sz="1300" b="1" dirty="0">
                <a:solidFill>
                  <a:srgbClr val="065A82"/>
                </a:solidFill>
                <a:latin typeface="Calibri" pitchFamily="34" charset="0"/>
              </a:rPr>
              <a:t>影響訓練的原因</a:t>
            </a:r>
          </a:p>
          <a:p>
            <a:pPr marL="0" indent="0" algn="l">
              <a:buNone/>
            </a:pPr>
            <a:endParaRPr lang="zh-TW" sz="1300" b="1" dirty="0">
              <a:solidFill>
                <a:srgbClr val="065A82"/>
              </a:solidFill>
              <a:latin typeface="Calibri" pitchFamily="34" charset="0"/>
            </a:endParaRPr>
          </a:p>
          <a:p>
            <a:pPr marL="0" indent="0" algn="l">
              <a:buNone/>
            </a:pPr>
            <a:r>
              <a:rPr lang="zh-TW" sz="1200" b="0" dirty="0">
                <a:solidFill>
                  <a:srgbClr val="1A202C"/>
                </a:solidFill>
                <a:latin typeface="Calibri" pitchFamily="34" charset="0"/>
              </a:rPr>
              <a:t>若不統一方向，模型需同時學習兩種對稱的特徵表示，等於增加學習複雜度。</a:t>
            </a:r>
          </a:p>
          <a:p>
            <a:pPr marL="0" indent="0" algn="l">
              <a:buNone/>
            </a:pPr>
            <a:endParaRPr lang="zh-TW" sz="1200" b="0" dirty="0">
              <a:solidFill>
                <a:srgbClr val="1A202C"/>
              </a:solidFill>
              <a:latin typeface="Calibri" pitchFamily="34" charset="0"/>
            </a:endParaRPr>
          </a:p>
          <a:p>
            <a:pPr marL="0" indent="0" algn="l">
              <a:buNone/>
            </a:pPr>
            <a:r>
              <a:rPr lang="zh-TW" sz="1200" b="0" dirty="0">
                <a:solidFill>
                  <a:srgbClr val="1A202C"/>
                </a:solidFill>
                <a:latin typeface="Calibri" pitchFamily="34" charset="0"/>
              </a:rPr>
              <a:t>在小資料集（287 張）的情境下，這種不一致性對模型收斂影響更顯著，容易造成訓練不穩定。</a:t>
            </a:r>
          </a:p>
        </p:txBody>
      </p:sp>
      <p:sp>
        <p:nvSpPr>
          <p:cNvPr id="9" name="Card"/>
          <p:cNvSpPr/>
          <p:nvPr/>
        </p:nvSpPr>
        <p:spPr>
          <a:xfrm>
            <a:off x="4663440" y="640080"/>
            <a:ext cx="4160520" cy="43159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Accent"/>
          <p:cNvSpPr/>
          <p:nvPr/>
        </p:nvSpPr>
        <p:spPr>
          <a:xfrm>
            <a:off x="4663440" y="640080"/>
            <a:ext cx="64008" cy="43159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CardTitle"/>
          <p:cNvSpPr/>
          <p:nvPr/>
        </p:nvSpPr>
        <p:spPr>
          <a:xfrm>
            <a:off x="4828031" y="713231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sz="1500" b="1" dirty="0">
                <a:solidFill>
                  <a:srgbClr val="028090"/>
                </a:solidFill>
                <a:latin typeface="Calibri" pitchFamily="34" charset="0"/>
              </a:rPr>
              <a:t>如何翻轉？</a:t>
            </a:r>
          </a:p>
        </p:txBody>
      </p:sp>
      <p:sp>
        <p:nvSpPr>
          <p:cNvPr id="12" name="Step0"/>
          <p:cNvSpPr/>
          <p:nvPr/>
        </p:nvSpPr>
        <p:spPr>
          <a:xfrm>
            <a:off x="4828032" y="1078992"/>
            <a:ext cx="384048" cy="74980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Num0"/>
          <p:cNvSpPr/>
          <p:nvPr/>
        </p:nvSpPr>
        <p:spPr>
          <a:xfrm>
            <a:off x="4828032" y="1078992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sz="16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14" name="StepTitle0"/>
          <p:cNvSpPr/>
          <p:nvPr/>
        </p:nvSpPr>
        <p:spPr>
          <a:xfrm>
            <a:off x="5321808" y="107899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sz="1300" b="1" dirty="0">
                <a:solidFill>
                  <a:srgbClr val="1A202C"/>
                </a:solidFill>
                <a:latin typeface="Calibri" pitchFamily="34" charset="0"/>
              </a:rPr>
              <a:t>判斷 ROI 位置</a:t>
            </a:r>
          </a:p>
        </p:txBody>
      </p:sp>
      <p:sp>
        <p:nvSpPr>
          <p:cNvPr id="15" name="StepDesc0"/>
          <p:cNvSpPr/>
          <p:nvPr/>
        </p:nvSpPr>
        <p:spPr>
          <a:xfrm>
            <a:off x="5321808" y="1380744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100" b="0" dirty="0">
                <a:solidFill>
                  <a:srgbClr val="4A5568"/>
                </a:solidFill>
                <a:latin typeface="Calibri" pitchFamily="34" charset="0"/>
              </a:rPr>
              <a:t>依據標準 </a:t>
            </a:r>
            <a:r>
              <a:rPr lang="en-US" altLang="zh-TW" sz="1100" b="0" dirty="0">
                <a:solidFill>
                  <a:srgbClr val="4A5568"/>
                </a:solidFill>
                <a:latin typeface="Calibri" pitchFamily="34" charset="0"/>
              </a:rPr>
              <a:t>X </a:t>
            </a:r>
            <a:r>
              <a:rPr lang="zh-TW" altLang="en-US" sz="1100" b="0" dirty="0">
                <a:solidFill>
                  <a:srgbClr val="4A5568"/>
                </a:solidFill>
                <a:latin typeface="Calibri" pitchFamily="34" charset="0"/>
              </a:rPr>
              <a:t>光拍攝視角轉換：影像畫面偏左為「病患右側 </a:t>
            </a:r>
            <a:r>
              <a:rPr lang="en-US" altLang="zh-TW" sz="1100" b="0" dirty="0">
                <a:solidFill>
                  <a:srgbClr val="4A5568"/>
                </a:solidFill>
                <a:latin typeface="Calibri" pitchFamily="34" charset="0"/>
              </a:rPr>
              <a:t>(R)</a:t>
            </a:r>
            <a:r>
              <a:rPr lang="zh-TW" altLang="en-US" sz="1100" b="0" dirty="0">
                <a:solidFill>
                  <a:srgbClr val="4A5568"/>
                </a:solidFill>
                <a:latin typeface="Calibri" pitchFamily="34" charset="0"/>
              </a:rPr>
              <a:t>」；影像畫面偏右為「病患左側 </a:t>
            </a:r>
            <a:r>
              <a:rPr lang="en-US" altLang="zh-TW" sz="1100" b="0" dirty="0">
                <a:solidFill>
                  <a:srgbClr val="4A5568"/>
                </a:solidFill>
                <a:latin typeface="Calibri" pitchFamily="34" charset="0"/>
              </a:rPr>
              <a:t>(L)</a:t>
            </a:r>
            <a:r>
              <a:rPr lang="zh-TW" altLang="en-US" sz="1100" b="0" dirty="0">
                <a:solidFill>
                  <a:srgbClr val="4A5568"/>
                </a:solidFill>
                <a:latin typeface="Calibri" pitchFamily="34" charset="0"/>
              </a:rPr>
              <a:t>」。</a:t>
            </a:r>
            <a:endParaRPr lang="zh-TW" sz="1100" b="0" dirty="0">
              <a:solidFill>
                <a:srgbClr val="4A5568"/>
              </a:solidFill>
              <a:latin typeface="Calibri" pitchFamily="34" charset="0"/>
            </a:endParaRPr>
          </a:p>
        </p:txBody>
      </p:sp>
      <p:sp>
        <p:nvSpPr>
          <p:cNvPr id="16" name="Step1"/>
          <p:cNvSpPr/>
          <p:nvPr/>
        </p:nvSpPr>
        <p:spPr>
          <a:xfrm>
            <a:off x="4828032" y="2039112"/>
            <a:ext cx="384048" cy="7498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7" name="Num1"/>
          <p:cNvSpPr/>
          <p:nvPr/>
        </p:nvSpPr>
        <p:spPr>
          <a:xfrm>
            <a:off x="4828032" y="2039112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sz="16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18" name="StepTitle1"/>
          <p:cNvSpPr/>
          <p:nvPr/>
        </p:nvSpPr>
        <p:spPr>
          <a:xfrm>
            <a:off x="5321808" y="203911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300" b="1" dirty="0">
                <a:solidFill>
                  <a:srgbClr val="1A202C"/>
                </a:solidFill>
                <a:latin typeface="Calibri" pitchFamily="34" charset="0"/>
              </a:rPr>
              <a:t>病患左側 </a:t>
            </a:r>
            <a:r>
              <a:rPr lang="en-US" altLang="zh-TW" sz="1300" b="1" dirty="0">
                <a:solidFill>
                  <a:srgbClr val="1A202C"/>
                </a:solidFill>
                <a:latin typeface="Calibri" pitchFamily="34" charset="0"/>
              </a:rPr>
              <a:t>(L) </a:t>
            </a:r>
            <a:r>
              <a:rPr lang="zh-TW" altLang="en-US" sz="1300" b="1" dirty="0">
                <a:solidFill>
                  <a:srgbClr val="1A202C"/>
                </a:solidFill>
                <a:latin typeface="Calibri" pitchFamily="34" charset="0"/>
              </a:rPr>
              <a:t>保持原樣</a:t>
            </a:r>
            <a:endParaRPr lang="zh-TW" sz="1300" b="1" dirty="0">
              <a:solidFill>
                <a:srgbClr val="1A202C"/>
              </a:solidFill>
              <a:latin typeface="Calibri" pitchFamily="34" charset="0"/>
            </a:endParaRPr>
          </a:p>
        </p:txBody>
      </p:sp>
      <p:sp>
        <p:nvSpPr>
          <p:cNvPr id="19" name="StepDesc1"/>
          <p:cNvSpPr/>
          <p:nvPr/>
        </p:nvSpPr>
        <p:spPr>
          <a:xfrm>
            <a:off x="5321808" y="2340864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100" b="0" dirty="0">
                <a:solidFill>
                  <a:srgbClr val="4A5568"/>
                </a:solidFill>
                <a:latin typeface="Calibri" pitchFamily="34" charset="0"/>
              </a:rPr>
              <a:t>左側股骨頭 </a:t>
            </a:r>
            <a:r>
              <a:rPr lang="en-US" altLang="zh-TW" sz="1100" b="0" dirty="0">
                <a:solidFill>
                  <a:srgbClr val="4A5568"/>
                </a:solidFill>
                <a:latin typeface="Calibri" pitchFamily="34" charset="0"/>
              </a:rPr>
              <a:t>ROI </a:t>
            </a:r>
            <a:r>
              <a:rPr lang="zh-TW" altLang="en-US" sz="1100" b="0" dirty="0">
                <a:solidFill>
                  <a:srgbClr val="4A5568"/>
                </a:solidFill>
                <a:latin typeface="Calibri" pitchFamily="34" charset="0"/>
              </a:rPr>
              <a:t>直接作為分類器輸入，不做翻轉處理。</a:t>
            </a:r>
            <a:endParaRPr lang="zh-TW" sz="1100" b="0" dirty="0">
              <a:solidFill>
                <a:srgbClr val="4A5568"/>
              </a:solidFill>
              <a:latin typeface="Calibri" pitchFamily="34" charset="0"/>
            </a:endParaRPr>
          </a:p>
        </p:txBody>
      </p:sp>
      <p:sp>
        <p:nvSpPr>
          <p:cNvPr id="20" name="Step2"/>
          <p:cNvSpPr/>
          <p:nvPr/>
        </p:nvSpPr>
        <p:spPr>
          <a:xfrm>
            <a:off x="4828032" y="2999232"/>
            <a:ext cx="384048" cy="7498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1" name="Num2"/>
          <p:cNvSpPr/>
          <p:nvPr/>
        </p:nvSpPr>
        <p:spPr>
          <a:xfrm>
            <a:off x="4828032" y="2999232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sz="16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22" name="StepTitle2"/>
          <p:cNvSpPr/>
          <p:nvPr/>
        </p:nvSpPr>
        <p:spPr>
          <a:xfrm>
            <a:off x="5321808" y="299923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300" b="1" dirty="0">
                <a:solidFill>
                  <a:srgbClr val="1A202C"/>
                </a:solidFill>
                <a:latin typeface="Calibri" pitchFamily="34" charset="0"/>
              </a:rPr>
              <a:t>病患右側 </a:t>
            </a:r>
            <a:r>
              <a:rPr lang="en-US" altLang="zh-TW" sz="1300" b="1" dirty="0">
                <a:solidFill>
                  <a:srgbClr val="1A202C"/>
                </a:solidFill>
                <a:latin typeface="Calibri" pitchFamily="34" charset="0"/>
              </a:rPr>
              <a:t>(R) </a:t>
            </a:r>
            <a:r>
              <a:rPr lang="zh-TW" altLang="en-US" sz="1300" b="1" dirty="0">
                <a:solidFill>
                  <a:srgbClr val="1A202C"/>
                </a:solidFill>
                <a:latin typeface="Calibri" pitchFamily="34" charset="0"/>
              </a:rPr>
              <a:t>水平翻轉</a:t>
            </a:r>
            <a:endParaRPr lang="zh-TW" sz="1300" b="1" dirty="0">
              <a:solidFill>
                <a:srgbClr val="1A202C"/>
              </a:solidFill>
              <a:latin typeface="Calibri" pitchFamily="34" charset="0"/>
            </a:endParaRPr>
          </a:p>
        </p:txBody>
      </p:sp>
      <p:sp>
        <p:nvSpPr>
          <p:cNvPr id="23" name="StepDesc2"/>
          <p:cNvSpPr/>
          <p:nvPr/>
        </p:nvSpPr>
        <p:spPr>
          <a:xfrm>
            <a:off x="5321808" y="3300984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100" b="0" dirty="0">
                <a:solidFill>
                  <a:srgbClr val="4A5568"/>
                </a:solidFill>
                <a:latin typeface="Calibri" pitchFamily="34" charset="0"/>
              </a:rPr>
              <a:t>對右側 </a:t>
            </a:r>
            <a:r>
              <a:rPr lang="en-US" altLang="zh-TW" sz="1100" b="0" dirty="0">
                <a:solidFill>
                  <a:srgbClr val="4A5568"/>
                </a:solidFill>
                <a:latin typeface="Calibri" pitchFamily="34" charset="0"/>
              </a:rPr>
              <a:t>ROI </a:t>
            </a:r>
            <a:r>
              <a:rPr lang="zh-TW" altLang="en-US" sz="1100" b="0" dirty="0">
                <a:solidFill>
                  <a:srgbClr val="4A5568"/>
                </a:solidFill>
                <a:latin typeface="Calibri" pitchFamily="34" charset="0"/>
              </a:rPr>
              <a:t>進行 </a:t>
            </a:r>
            <a:r>
              <a:rPr lang="en-US" altLang="zh-TW" sz="1100" b="0" dirty="0">
                <a:solidFill>
                  <a:srgbClr val="4A5568"/>
                </a:solidFill>
                <a:latin typeface="Calibri" pitchFamily="34" charset="0"/>
              </a:rPr>
              <a:t>Horizontal Flip</a:t>
            </a:r>
            <a:r>
              <a:rPr lang="zh-TW" altLang="en-US" sz="1100" b="0" dirty="0">
                <a:solidFill>
                  <a:srgbClr val="4A5568"/>
                </a:solidFill>
                <a:latin typeface="Calibri" pitchFamily="34" charset="0"/>
              </a:rPr>
              <a:t>，使其骨骼結構的朝向與左側完全一致。</a:t>
            </a:r>
            <a:endParaRPr lang="zh-TW" sz="1100" b="0" dirty="0">
              <a:solidFill>
                <a:srgbClr val="4A5568"/>
              </a:solidFill>
              <a:latin typeface="Calibri" pitchFamily="34" charset="0"/>
            </a:endParaRPr>
          </a:p>
        </p:txBody>
      </p:sp>
      <p:sp>
        <p:nvSpPr>
          <p:cNvPr id="24" name="Step3"/>
          <p:cNvSpPr/>
          <p:nvPr/>
        </p:nvSpPr>
        <p:spPr>
          <a:xfrm>
            <a:off x="4828032" y="3959352"/>
            <a:ext cx="384048" cy="7498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5" name="Num3"/>
          <p:cNvSpPr/>
          <p:nvPr/>
        </p:nvSpPr>
        <p:spPr>
          <a:xfrm>
            <a:off x="4828032" y="3959352"/>
            <a:ext cx="3840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sz="1600" b="1" dirty="0">
                <a:solidFill>
                  <a:srgbClr val="FFFFFF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26" name="StepTitle3"/>
          <p:cNvSpPr/>
          <p:nvPr/>
        </p:nvSpPr>
        <p:spPr>
          <a:xfrm>
            <a:off x="5321808" y="395935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300" b="1" dirty="0">
                <a:solidFill>
                  <a:srgbClr val="1A202C"/>
                </a:solidFill>
                <a:latin typeface="Calibri" pitchFamily="34" charset="0"/>
              </a:rPr>
              <a:t>統一輸入特徵</a:t>
            </a:r>
            <a:endParaRPr lang="zh-TW" sz="1300" b="1" dirty="0">
              <a:solidFill>
                <a:srgbClr val="1A202C"/>
              </a:solidFill>
              <a:latin typeface="Calibri" pitchFamily="34" charset="0"/>
            </a:endParaRPr>
          </a:p>
        </p:txBody>
      </p:sp>
      <p:sp>
        <p:nvSpPr>
          <p:cNvPr id="27" name="StepDesc3"/>
          <p:cNvSpPr/>
          <p:nvPr/>
        </p:nvSpPr>
        <p:spPr>
          <a:xfrm>
            <a:off x="5321808" y="4261104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100" b="0" dirty="0">
                <a:solidFill>
                  <a:srgbClr val="4A5568"/>
                </a:solidFill>
                <a:latin typeface="Calibri" pitchFamily="34" charset="0"/>
              </a:rPr>
              <a:t>所有影像統一轉換為「左側骨骼朝向」後，送入後續分類模型進行訓練與推論。</a:t>
            </a:r>
            <a:endParaRPr lang="zh-TW" sz="1100" b="0" dirty="0">
              <a:solidFill>
                <a:srgbClr val="4A5568"/>
              </a:solidFill>
              <a:latin typeface="Calibri" pitchFamily="34" charset="0"/>
            </a:endParaRPr>
          </a:p>
        </p:txBody>
      </p:sp>
      <p:sp>
        <p:nvSpPr>
          <p:cNvPr id="28" name="NoteBox"/>
          <p:cNvSpPr/>
          <p:nvPr/>
        </p:nvSpPr>
        <p:spPr>
          <a:xfrm>
            <a:off x="320040" y="4709160"/>
            <a:ext cx="8503920" cy="320040"/>
          </a:xfrm>
          <a:prstGeom prst="rect">
            <a:avLst/>
          </a:prstGeom>
          <a:solidFill>
            <a:srgbClr val="EBF4FF"/>
          </a:solidFill>
          <a:ln w="12700">
            <a:solidFill>
              <a:srgbClr val="BEE3F8"/>
            </a:solidFill>
            <a:prstDash val="solid"/>
          </a:ln>
        </p:spPr>
      </p:sp>
      <p:sp>
        <p:nvSpPr>
          <p:cNvPr id="29" name="NoteText"/>
          <p:cNvSpPr/>
          <p:nvPr/>
        </p:nvSpPr>
        <p:spPr>
          <a:xfrm>
            <a:off x="457200" y="470916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sz="1050" b="0" dirty="0">
                <a:solidFill>
                  <a:srgbClr val="065A82"/>
                </a:solidFill>
                <a:latin typeface="Calibri" pitchFamily="34" charset="0"/>
              </a:rPr>
              <a:t>訓練效果：統一朝向後模型只需學習一種特徵方向，等效提升資料一致性，在小樣本情境下可顯著穩定訓練過程</a:t>
            </a: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FA172A94-BE30-DCA8-1BC2-1622D397FB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754" y="3500631"/>
            <a:ext cx="707740" cy="922683"/>
          </a:xfrm>
          <a:prstGeom prst="rect">
            <a:avLst/>
          </a:prstGeom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7ADE3407-5B25-8D84-B5C6-0ABC7ED15A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35867" y="3500631"/>
            <a:ext cx="705951" cy="925769"/>
          </a:xfrm>
          <a:prstGeom prst="rect">
            <a:avLst/>
          </a:prstGeom>
        </p:spPr>
      </p:pic>
      <p:cxnSp>
        <p:nvCxnSpPr>
          <p:cNvPr id="36" name="直線單箭頭接點 35">
            <a:extLst>
              <a:ext uri="{FF2B5EF4-FFF2-40B4-BE49-F238E27FC236}">
                <a16:creationId xmlns:a16="http://schemas.microsoft.com/office/drawing/2014/main" id="{DD71DDA5-5766-4359-3EEC-03669808D1D0}"/>
              </a:ext>
            </a:extLst>
          </p:cNvPr>
          <p:cNvCxnSpPr>
            <a:stCxn id="32" idx="1"/>
            <a:endCxn id="31" idx="1"/>
          </p:cNvCxnSpPr>
          <p:nvPr/>
        </p:nvCxnSpPr>
        <p:spPr>
          <a:xfrm flipV="1">
            <a:off x="1341818" y="3961973"/>
            <a:ext cx="334936" cy="15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8" name="圖片 37">
            <a:extLst>
              <a:ext uri="{FF2B5EF4-FFF2-40B4-BE49-F238E27FC236}">
                <a16:creationId xmlns:a16="http://schemas.microsoft.com/office/drawing/2014/main" id="{767409BE-9C6E-6A33-A266-36FB5033B3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3040" y="3500631"/>
            <a:ext cx="707740" cy="917441"/>
          </a:xfrm>
          <a:prstGeom prst="rect">
            <a:avLst/>
          </a:prstGeom>
        </p:spPr>
      </p:pic>
      <p:sp>
        <p:nvSpPr>
          <p:cNvPr id="39" name="文字方塊 38">
            <a:extLst>
              <a:ext uri="{FF2B5EF4-FFF2-40B4-BE49-F238E27FC236}">
                <a16:creationId xmlns:a16="http://schemas.microsoft.com/office/drawing/2014/main" id="{8E03BE90-9E4A-4D72-2605-E470D3EBC547}"/>
              </a:ext>
            </a:extLst>
          </p:cNvPr>
          <p:cNvSpPr txBox="1"/>
          <p:nvPr/>
        </p:nvSpPr>
        <p:spPr>
          <a:xfrm>
            <a:off x="3765716" y="3834233"/>
            <a:ext cx="476631" cy="2693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150" dirty="0"/>
              <a:t>不變</a:t>
            </a:r>
          </a:p>
        </p:txBody>
      </p:sp>
      <p:cxnSp>
        <p:nvCxnSpPr>
          <p:cNvPr id="41" name="直線單箭頭接點 40">
            <a:extLst>
              <a:ext uri="{FF2B5EF4-FFF2-40B4-BE49-F238E27FC236}">
                <a16:creationId xmlns:a16="http://schemas.microsoft.com/office/drawing/2014/main" id="{7E2C412F-195D-E135-7852-DB866CD376C0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3430780" y="3959352"/>
            <a:ext cx="334936" cy="95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模組二：階層式二元分類策略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8412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658368"/>
            <a:ext cx="64008" cy="80467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70408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設計理念：為何採用階層式二元分類而非直接四元分類？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978408"/>
            <a:ext cx="8138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直接四類分類在 Stage 2/3 </a:t>
            </a:r>
            <a:r>
              <a:rPr lang="zh-TW" alt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分類</a:t>
            </a:r>
            <a:r>
              <a:rPr lang="en-US" sz="120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表現差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</a:t>
            </a:r>
            <a:r>
              <a:rPr lang="zh-TW" alt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在測試集的表現也不太理想，</a:t>
            </a:r>
            <a:r>
              <a:rPr lang="en-US" altLang="zh-TW" sz="120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準確率</a:t>
            </a:r>
            <a:r>
              <a:rPr lang="zh-TW" alt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一直在</a:t>
            </a:r>
            <a:r>
              <a:rPr lang="en-US" altLang="zh-TW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</a:t>
            </a:r>
            <a:r>
              <a:rPr lang="zh-TW" alt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左右，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而 Stage 4（嚴重）與 Stage 1（</a:t>
            </a:r>
            <a:r>
              <a:rPr lang="zh-TW" alt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輕微</a:t>
            </a: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）具有最強的特徵差異性，先分離極端情況再細分中間期別可顯著提升整體準確率。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74720" y="1664208"/>
            <a:ext cx="2194560" cy="475488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74720" y="166420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輸入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74720" y="2336292"/>
            <a:ext cx="2194560" cy="475488"/>
          </a:xfrm>
          <a:prstGeom prst="rect">
            <a:avLst/>
          </a:prstGeom>
          <a:solidFill>
            <a:srgbClr val="7B341E"/>
          </a:solidFill>
          <a:ln w="12700">
            <a:solidFill>
              <a:srgbClr val="7B341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74720" y="2336292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1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 vs. Others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59" y="3035300"/>
            <a:ext cx="2377440" cy="47548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 dirty="0"/>
          </a:p>
        </p:txBody>
      </p:sp>
      <p:sp>
        <p:nvSpPr>
          <p:cNvPr id="14" name="Text 12"/>
          <p:cNvSpPr/>
          <p:nvPr/>
        </p:nvSpPr>
        <p:spPr>
          <a:xfrm>
            <a:off x="365759" y="30353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Stage 4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474720" y="3034031"/>
            <a:ext cx="2194560" cy="475488"/>
          </a:xfrm>
          <a:prstGeom prst="rect">
            <a:avLst/>
          </a:prstGeom>
          <a:solidFill>
            <a:srgbClr val="276749"/>
          </a:solidFill>
          <a:ln w="12700">
            <a:solidFill>
              <a:srgbClr val="27674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474720" y="3034031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vs. Others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92240" y="3706115"/>
            <a:ext cx="2377440" cy="47548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92240" y="3706115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Stage 1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474720" y="3706115"/>
            <a:ext cx="2194560" cy="475488"/>
          </a:xfrm>
          <a:prstGeom prst="rect">
            <a:avLst/>
          </a:prstGeom>
          <a:solidFill>
            <a:srgbClr val="7B6002"/>
          </a:solidFill>
          <a:ln w="12700">
            <a:solidFill>
              <a:srgbClr val="7B600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474720" y="3706115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3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vs. Stage 3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0" y="282194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非Stage4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148840" y="233222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是Stage4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0" y="35204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非Stage1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309360" y="3029923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是Stage1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103120" y="4538727"/>
            <a:ext cx="1371600" cy="47548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zh-TW" altLang="en-US" dirty="0"/>
          </a:p>
        </p:txBody>
      </p:sp>
      <p:sp>
        <p:nvSpPr>
          <p:cNvPr id="26" name="Text 24"/>
          <p:cNvSpPr/>
          <p:nvPr/>
        </p:nvSpPr>
        <p:spPr>
          <a:xfrm>
            <a:off x="2103120" y="4538727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Stage 2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71185" y="4538727"/>
            <a:ext cx="1371600" cy="47548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671185" y="4538727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Stage 3</a:t>
            </a:r>
            <a:endParaRPr lang="en-US" sz="1150" dirty="0"/>
          </a:p>
        </p:txBody>
      </p: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C73AD7EC-30C5-2BC5-C991-C188DAC10A11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4572000" y="2139696"/>
            <a:ext cx="0" cy="1965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接點: 肘形 31">
            <a:extLst>
              <a:ext uri="{FF2B5EF4-FFF2-40B4-BE49-F238E27FC236}">
                <a16:creationId xmlns:a16="http://schemas.microsoft.com/office/drawing/2014/main" id="{7236E6BA-09F0-229B-6B12-504D2115160B}"/>
              </a:ext>
            </a:extLst>
          </p:cNvPr>
          <p:cNvCxnSpPr>
            <a:stCxn id="11" idx="1"/>
            <a:endCxn id="13" idx="0"/>
          </p:cNvCxnSpPr>
          <p:nvPr/>
        </p:nvCxnSpPr>
        <p:spPr>
          <a:xfrm rot="10800000" flipV="1">
            <a:off x="1554480" y="2574036"/>
            <a:ext cx="1920241" cy="46126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線單箭頭接點 33">
            <a:extLst>
              <a:ext uri="{FF2B5EF4-FFF2-40B4-BE49-F238E27FC236}">
                <a16:creationId xmlns:a16="http://schemas.microsoft.com/office/drawing/2014/main" id="{175A0B03-DFBA-3EC0-331D-34E20A9711D8}"/>
              </a:ext>
            </a:extLst>
          </p:cNvPr>
          <p:cNvCxnSpPr>
            <a:stCxn id="11" idx="2"/>
            <a:endCxn id="15" idx="0"/>
          </p:cNvCxnSpPr>
          <p:nvPr/>
        </p:nvCxnSpPr>
        <p:spPr>
          <a:xfrm>
            <a:off x="4572000" y="2811780"/>
            <a:ext cx="0" cy="2222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線單箭頭接點 37">
            <a:extLst>
              <a:ext uri="{FF2B5EF4-FFF2-40B4-BE49-F238E27FC236}">
                <a16:creationId xmlns:a16="http://schemas.microsoft.com/office/drawing/2014/main" id="{6AC5C41B-A01C-C720-CCAD-0A1F875988A4}"/>
              </a:ext>
            </a:extLst>
          </p:cNvPr>
          <p:cNvCxnSpPr>
            <a:stCxn id="15" idx="2"/>
            <a:endCxn id="19" idx="0"/>
          </p:cNvCxnSpPr>
          <p:nvPr/>
        </p:nvCxnSpPr>
        <p:spPr>
          <a:xfrm>
            <a:off x="4572000" y="3509519"/>
            <a:ext cx="0" cy="1965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接點: 肘形 62">
            <a:extLst>
              <a:ext uri="{FF2B5EF4-FFF2-40B4-BE49-F238E27FC236}">
                <a16:creationId xmlns:a16="http://schemas.microsoft.com/office/drawing/2014/main" id="{3DE5892B-D85D-7B4B-D464-1CEC62F9EE17}"/>
              </a:ext>
            </a:extLst>
          </p:cNvPr>
          <p:cNvCxnSpPr>
            <a:stCxn id="16" idx="3"/>
            <a:endCxn id="17" idx="0"/>
          </p:cNvCxnSpPr>
          <p:nvPr/>
        </p:nvCxnSpPr>
        <p:spPr>
          <a:xfrm>
            <a:off x="5669280" y="3271775"/>
            <a:ext cx="2011680" cy="43434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77E31F50-590C-581B-A563-7C19EBBC3691}"/>
              </a:ext>
            </a:extLst>
          </p:cNvPr>
          <p:cNvCxnSpPr>
            <a:stCxn id="19" idx="2"/>
            <a:endCxn id="25" idx="0"/>
          </p:cNvCxnSpPr>
          <p:nvPr/>
        </p:nvCxnSpPr>
        <p:spPr>
          <a:xfrm rot="5400000">
            <a:off x="3501898" y="3468625"/>
            <a:ext cx="357124" cy="178308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接點: 肘形 66">
            <a:extLst>
              <a:ext uri="{FF2B5EF4-FFF2-40B4-BE49-F238E27FC236}">
                <a16:creationId xmlns:a16="http://schemas.microsoft.com/office/drawing/2014/main" id="{E64F3F0D-0449-DEC2-CA44-ED0C8B584073}"/>
              </a:ext>
            </a:extLst>
          </p:cNvPr>
          <p:cNvCxnSpPr>
            <a:stCxn id="19" idx="2"/>
            <a:endCxn id="28" idx="0"/>
          </p:cNvCxnSpPr>
          <p:nvPr/>
        </p:nvCxnSpPr>
        <p:spPr>
          <a:xfrm rot="16200000" flipH="1">
            <a:off x="5285930" y="3467672"/>
            <a:ext cx="357124" cy="178498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vBg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itle"/>
          <p:cNvSpPr/>
          <p:nvPr/>
        </p:nvSpPr>
        <p:spPr>
          <a:xfrm>
            <a:off x="365760" y="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sz="1800" b="1" dirty="0">
                <a:solidFill>
                  <a:srgbClr val="FFFFFF"/>
                </a:solidFill>
                <a:latin typeface="Calibri" pitchFamily="34" charset="0"/>
              </a:rPr>
              <a:t>模型選擇策略：以驗證集 Macro F1 為指標</a:t>
            </a:r>
          </a:p>
        </p:txBody>
      </p:sp>
      <p:sp>
        <p:nvSpPr>
          <p:cNvPr id="4" name="SlideNum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</a:p>
        </p:txBody>
      </p:sp>
      <p:sp>
        <p:nvSpPr>
          <p:cNvPr id="5" name="Card"/>
          <p:cNvSpPr/>
          <p:nvPr/>
        </p:nvSpPr>
        <p:spPr>
          <a:xfrm>
            <a:off x="320040" y="640080"/>
            <a:ext cx="4160520" cy="43159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Accent"/>
          <p:cNvSpPr/>
          <p:nvPr/>
        </p:nvSpPr>
        <p:spPr>
          <a:xfrm>
            <a:off x="320040" y="640080"/>
            <a:ext cx="64008" cy="431596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CardTitle"/>
          <p:cNvSpPr/>
          <p:nvPr/>
        </p:nvSpPr>
        <p:spPr>
          <a:xfrm>
            <a:off x="484632" y="713231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sz="1500" b="1" dirty="0">
                <a:solidFill>
                  <a:srgbClr val="065A82"/>
                </a:solidFill>
                <a:latin typeface="Calibri" pitchFamily="34" charset="0"/>
              </a:rPr>
              <a:t>為何選擇 Macro F1，而非 Accuracy？</a:t>
            </a:r>
          </a:p>
        </p:txBody>
      </p:sp>
      <p:sp>
        <p:nvSpPr>
          <p:cNvPr id="8" name="F1Body"/>
          <p:cNvSpPr/>
          <p:nvPr/>
        </p:nvSpPr>
        <p:spPr>
          <a:xfrm>
            <a:off x="475488" y="1078992"/>
            <a:ext cx="3886200" cy="3749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sz="1300" b="1" dirty="0">
                <a:solidFill>
                  <a:srgbClr val="065A82"/>
                </a:solidFill>
                <a:latin typeface="Calibri" pitchFamily="34" charset="0"/>
              </a:rPr>
              <a:t>資料不平衡問題</a:t>
            </a:r>
          </a:p>
          <a:p>
            <a:pPr marL="0" indent="0" algn="l">
              <a:buNone/>
            </a:pPr>
            <a:endParaRPr lang="zh-TW" sz="1300" b="1" dirty="0">
              <a:solidFill>
                <a:srgbClr val="065A82"/>
              </a:solidFill>
              <a:latin typeface="Calibri" pitchFamily="34" charset="0"/>
            </a:endParaRPr>
          </a:p>
          <a:p>
            <a:pPr marL="0" indent="0" algn="l">
              <a:buNone/>
            </a:pPr>
            <a:r>
              <a:rPr lang="zh-TW" sz="1150" b="0" dirty="0">
                <a:solidFill>
                  <a:srgbClr val="E74C3C"/>
                </a:solidFill>
                <a:latin typeface="Calibri" pitchFamily="34" charset="0"/>
              </a:rPr>
              <a:t>Stage 1: 49 張 (17%)　Stage 2: 112 張 (39%)</a:t>
            </a:r>
          </a:p>
          <a:p>
            <a:pPr marL="0" indent="0" algn="l">
              <a:buNone/>
            </a:pPr>
            <a:r>
              <a:rPr lang="zh-TW" sz="1150" b="0" dirty="0">
                <a:solidFill>
                  <a:srgbClr val="4A5568"/>
                </a:solidFill>
                <a:latin typeface="Calibri" pitchFamily="34" charset="0"/>
              </a:rPr>
              <a:t>Stage 3: 60 張 (21%)　Stage 4: 66 張 (23%)</a:t>
            </a:r>
          </a:p>
          <a:p>
            <a:pPr marL="0" indent="0" algn="l">
              <a:buNone/>
            </a:pPr>
            <a:endParaRPr lang="zh-TW" sz="1150" b="0" dirty="0">
              <a:solidFill>
                <a:srgbClr val="4A5568"/>
              </a:solidFill>
              <a:latin typeface="Calibri" pitchFamily="34" charset="0"/>
            </a:endParaRPr>
          </a:p>
          <a:p>
            <a:pPr marL="0" indent="0" algn="l">
              <a:buNone/>
            </a:pPr>
            <a:r>
              <a:rPr lang="zh-TW" sz="1300" b="1" dirty="0">
                <a:solidFill>
                  <a:srgbClr val="065A82"/>
                </a:solidFill>
                <a:latin typeface="Calibri" pitchFamily="34" charset="0"/>
              </a:rPr>
              <a:t>Accuracy 的問題</a:t>
            </a:r>
          </a:p>
          <a:p>
            <a:pPr marL="0" indent="0" algn="l">
              <a:buNone/>
            </a:pPr>
            <a:endParaRPr lang="zh-TW" sz="1300" b="1" dirty="0">
              <a:solidFill>
                <a:srgbClr val="065A82"/>
              </a:solidFill>
              <a:latin typeface="Calibri" pitchFamily="34" charset="0"/>
            </a:endParaRPr>
          </a:p>
          <a:p>
            <a:pPr marL="0" indent="0" algn="l">
              <a:buNone/>
            </a:pPr>
            <a:r>
              <a:rPr lang="zh-TW" sz="1150" b="0" dirty="0">
                <a:solidFill>
                  <a:srgbClr val="1A202C"/>
                </a:solidFill>
                <a:latin typeface="Calibri" pitchFamily="34" charset="0"/>
              </a:rPr>
              <a:t>若用 Accuracy，模型傾向預測多數類別（Stage 2）以獲得較高分數，少數類別（Stage 1）容易被忽略。</a:t>
            </a:r>
          </a:p>
          <a:p>
            <a:pPr marL="0" indent="0" algn="l">
              <a:buNone/>
            </a:pPr>
            <a:endParaRPr lang="zh-TW" sz="1150" b="0" dirty="0">
              <a:solidFill>
                <a:srgbClr val="1A202C"/>
              </a:solidFill>
              <a:latin typeface="Calibri" pitchFamily="34" charset="0"/>
            </a:endParaRPr>
          </a:p>
          <a:p>
            <a:pPr marL="0" indent="0" algn="l">
              <a:buNone/>
            </a:pPr>
            <a:r>
              <a:rPr lang="zh-TW" sz="1300" b="1" dirty="0">
                <a:solidFill>
                  <a:srgbClr val="065A82"/>
                </a:solidFill>
                <a:latin typeface="Calibri" pitchFamily="34" charset="0"/>
              </a:rPr>
              <a:t>Macro F1 的優勢</a:t>
            </a:r>
          </a:p>
          <a:p>
            <a:pPr marL="0" indent="0" algn="l">
              <a:buNone/>
            </a:pPr>
            <a:endParaRPr lang="zh-TW" sz="1300" b="1" dirty="0">
              <a:solidFill>
                <a:srgbClr val="065A82"/>
              </a:solidFill>
              <a:latin typeface="Calibri" pitchFamily="34" charset="0"/>
            </a:endParaRPr>
          </a:p>
          <a:p>
            <a:pPr marL="0" indent="0" algn="l">
              <a:buNone/>
            </a:pPr>
            <a:r>
              <a:rPr lang="zh-TW" sz="1150" b="0" dirty="0">
                <a:solidFill>
                  <a:srgbClr val="1A202C"/>
                </a:solidFill>
                <a:latin typeface="Calibri" pitchFamily="34" charset="0"/>
              </a:rPr>
              <a:t>對每個 Stage 分別計算 F1 Score，再取平均。每個 Stage 被視為同等重要，不受類別數量影響，更公平地反映各期別的辨識能力。</a:t>
            </a:r>
          </a:p>
        </p:txBody>
      </p:sp>
      <p:sp>
        <p:nvSpPr>
          <p:cNvPr id="9" name="Card"/>
          <p:cNvSpPr/>
          <p:nvPr/>
        </p:nvSpPr>
        <p:spPr>
          <a:xfrm>
            <a:off x="4663440" y="640080"/>
            <a:ext cx="4160520" cy="43159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Accent"/>
          <p:cNvSpPr/>
          <p:nvPr/>
        </p:nvSpPr>
        <p:spPr>
          <a:xfrm>
            <a:off x="4663440" y="640080"/>
            <a:ext cx="64008" cy="43159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CardTitle"/>
          <p:cNvSpPr/>
          <p:nvPr/>
        </p:nvSpPr>
        <p:spPr>
          <a:xfrm>
            <a:off x="4828031" y="713231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sz="1500" b="1" dirty="0">
                <a:solidFill>
                  <a:srgbClr val="028090"/>
                </a:solidFill>
                <a:latin typeface="Calibri" pitchFamily="34" charset="0"/>
              </a:rPr>
              <a:t>模型候選與篩選流程</a:t>
            </a:r>
          </a:p>
        </p:txBody>
      </p:sp>
      <p:sp>
        <p:nvSpPr>
          <p:cNvPr id="12" name="ProcBody"/>
          <p:cNvSpPr/>
          <p:nvPr/>
        </p:nvSpPr>
        <p:spPr>
          <a:xfrm>
            <a:off x="4828032" y="1078992"/>
            <a:ext cx="3886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sz="1300" b="1" dirty="0">
                <a:solidFill>
                  <a:srgbClr val="028090"/>
                </a:solidFill>
                <a:latin typeface="Calibri" pitchFamily="34" charset="0"/>
              </a:rPr>
              <a:t>候選架構池</a:t>
            </a:r>
          </a:p>
          <a:p>
            <a:pPr marL="0" indent="0" algn="l">
              <a:buNone/>
            </a:pPr>
            <a:endParaRPr lang="zh-TW" sz="1300" b="1" dirty="0">
              <a:solidFill>
                <a:srgbClr val="028090"/>
              </a:solidFill>
              <a:latin typeface="Calibri" pitchFamily="34" charset="0"/>
            </a:endParaRPr>
          </a:p>
          <a:p>
            <a:pPr marL="0" indent="0" algn="l">
              <a:buNone/>
            </a:pPr>
            <a:r>
              <a:rPr lang="zh-TW" sz="1100" b="0" dirty="0">
                <a:solidFill>
                  <a:srgbClr val="1A202C"/>
                </a:solidFill>
                <a:latin typeface="Calibri" pitchFamily="34" charset="0"/>
              </a:rPr>
              <a:t>DenseNet121 / DenseNet169</a:t>
            </a:r>
          </a:p>
          <a:p>
            <a:pPr marL="0" indent="0" algn="l">
              <a:buNone/>
            </a:pPr>
            <a:r>
              <a:rPr lang="zh-TW" sz="1100" b="0" dirty="0">
                <a:solidFill>
                  <a:srgbClr val="1A202C"/>
                </a:solidFill>
                <a:latin typeface="Calibri" pitchFamily="34" charset="0"/>
              </a:rPr>
              <a:t>EfficientNet-B0 / B</a:t>
            </a:r>
            <a:r>
              <a:rPr lang="en-US" altLang="zh-TW" sz="1100" b="0" dirty="0">
                <a:solidFill>
                  <a:srgbClr val="1A202C"/>
                </a:solidFill>
                <a:latin typeface="Calibri" pitchFamily="34" charset="0"/>
              </a:rPr>
              <a:t>1</a:t>
            </a:r>
            <a:endParaRPr lang="zh-TW" sz="1100" b="0" dirty="0">
              <a:solidFill>
                <a:srgbClr val="1A202C"/>
              </a:solidFill>
              <a:latin typeface="Calibri" pitchFamily="34" charset="0"/>
            </a:endParaRPr>
          </a:p>
          <a:p>
            <a:pPr marL="0" indent="0" algn="l">
              <a:buNone/>
            </a:pPr>
            <a:r>
              <a:rPr lang="zh-TW" sz="1100" b="0" dirty="0">
                <a:solidFill>
                  <a:srgbClr val="1A202C"/>
                </a:solidFill>
                <a:latin typeface="Calibri" pitchFamily="34" charset="0"/>
              </a:rPr>
              <a:t>ResNet50</a:t>
            </a:r>
          </a:p>
          <a:p>
            <a:pPr marL="0" indent="0" algn="l">
              <a:buNone/>
            </a:pPr>
            <a:r>
              <a:rPr lang="zh-TW" sz="1100" b="0" dirty="0">
                <a:solidFill>
                  <a:srgbClr val="1A202C"/>
                </a:solidFill>
                <a:latin typeface="Calibri" pitchFamily="34" charset="0"/>
              </a:rPr>
              <a:t>ConvNeXt-Tiny / Small</a:t>
            </a:r>
          </a:p>
        </p:txBody>
      </p:sp>
      <p:sp>
        <p:nvSpPr>
          <p:cNvPr id="13" name="PStep0Bg"/>
          <p:cNvSpPr/>
          <p:nvPr/>
        </p:nvSpPr>
        <p:spPr>
          <a:xfrm>
            <a:off x="4828032" y="3090672"/>
            <a:ext cx="3886200" cy="493776"/>
          </a:xfrm>
          <a:prstGeom prst="rect">
            <a:avLst/>
          </a:prstGeom>
          <a:solidFill>
            <a:srgbClr val="EBF4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PStep0Acc"/>
          <p:cNvSpPr/>
          <p:nvPr/>
        </p:nvSpPr>
        <p:spPr>
          <a:xfrm>
            <a:off x="4828032" y="3090672"/>
            <a:ext cx="384048" cy="49377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PNum0"/>
          <p:cNvSpPr/>
          <p:nvPr/>
        </p:nvSpPr>
        <p:spPr>
          <a:xfrm>
            <a:off x="4828032" y="3090672"/>
            <a:ext cx="3840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sz="1200" b="1" dirty="0">
                <a:solidFill>
                  <a:srgbClr val="FFFFFF"/>
                </a:solidFill>
                <a:latin typeface="Calibri" pitchFamily="34" charset="0"/>
              </a:rPr>
              <a:t>①</a:t>
            </a:r>
          </a:p>
        </p:txBody>
      </p:sp>
      <p:sp>
        <p:nvSpPr>
          <p:cNvPr id="16" name="PTitle0"/>
          <p:cNvSpPr/>
          <p:nvPr/>
        </p:nvSpPr>
        <p:spPr>
          <a:xfrm>
            <a:off x="5321808" y="309067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zh-TW" sz="1200" b="1" dirty="0">
                <a:solidFill>
                  <a:srgbClr val="065A82"/>
                </a:solidFill>
                <a:latin typeface="Calibri" pitchFamily="34" charset="0"/>
              </a:rPr>
              <a:t>相同設定獨立訓練</a:t>
            </a:r>
          </a:p>
        </p:txBody>
      </p:sp>
      <p:sp>
        <p:nvSpPr>
          <p:cNvPr id="17" name="PDesc0"/>
          <p:cNvSpPr/>
          <p:nvPr/>
        </p:nvSpPr>
        <p:spPr>
          <a:xfrm>
            <a:off x="5321808" y="3337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sz="1050" b="0" dirty="0">
                <a:solidFill>
                  <a:srgbClr val="4A5568"/>
                </a:solidFill>
                <a:latin typeface="Calibri" pitchFamily="34" charset="0"/>
              </a:rPr>
              <a:t>所有候選模型使用相同 Augmentation 與 Optimizer</a:t>
            </a:r>
          </a:p>
        </p:txBody>
      </p:sp>
      <p:sp>
        <p:nvSpPr>
          <p:cNvPr id="18" name="PStep1Bg"/>
          <p:cNvSpPr/>
          <p:nvPr/>
        </p:nvSpPr>
        <p:spPr>
          <a:xfrm>
            <a:off x="4828032" y="3657600"/>
            <a:ext cx="3886200" cy="493776"/>
          </a:xfrm>
          <a:prstGeom prst="rect">
            <a:avLst/>
          </a:prstGeom>
          <a:solidFill>
            <a:srgbClr val="F4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PStep1Acc"/>
          <p:cNvSpPr/>
          <p:nvPr/>
        </p:nvSpPr>
        <p:spPr>
          <a:xfrm>
            <a:off x="4828032" y="3657600"/>
            <a:ext cx="384048" cy="49377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0" name="PNum1"/>
          <p:cNvSpPr/>
          <p:nvPr/>
        </p:nvSpPr>
        <p:spPr>
          <a:xfrm>
            <a:off x="4828032" y="3657600"/>
            <a:ext cx="3840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sz="1200" b="1" dirty="0">
                <a:solidFill>
                  <a:srgbClr val="FFFFFF"/>
                </a:solidFill>
                <a:latin typeface="Calibri" pitchFamily="34" charset="0"/>
              </a:rPr>
              <a:t>②</a:t>
            </a:r>
          </a:p>
        </p:txBody>
      </p:sp>
      <p:sp>
        <p:nvSpPr>
          <p:cNvPr id="21" name="PTitle1"/>
          <p:cNvSpPr/>
          <p:nvPr/>
        </p:nvSpPr>
        <p:spPr>
          <a:xfrm>
            <a:off x="5321808" y="36576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zh-TW" sz="1200" b="1" dirty="0">
                <a:solidFill>
                  <a:srgbClr val="065A82"/>
                </a:solidFill>
                <a:latin typeface="Calibri" pitchFamily="34" charset="0"/>
              </a:rPr>
              <a:t>計算 Val Macro F1</a:t>
            </a:r>
          </a:p>
        </p:txBody>
      </p:sp>
      <p:sp>
        <p:nvSpPr>
          <p:cNvPr id="22" name="PDesc1"/>
          <p:cNvSpPr/>
          <p:nvPr/>
        </p:nvSpPr>
        <p:spPr>
          <a:xfrm>
            <a:off x="5321808" y="3904487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sz="1050" b="0" dirty="0">
                <a:solidFill>
                  <a:srgbClr val="4A5568"/>
                </a:solidFill>
                <a:latin typeface="Calibri" pitchFamily="34" charset="0"/>
              </a:rPr>
              <a:t>以驗證集 Macro F1 排序所有候選模型</a:t>
            </a:r>
          </a:p>
        </p:txBody>
      </p:sp>
      <p:sp>
        <p:nvSpPr>
          <p:cNvPr id="23" name="PStep2Bg"/>
          <p:cNvSpPr/>
          <p:nvPr/>
        </p:nvSpPr>
        <p:spPr>
          <a:xfrm>
            <a:off x="4828032" y="4224528"/>
            <a:ext cx="3886200" cy="493776"/>
          </a:xfrm>
          <a:prstGeom prst="rect">
            <a:avLst/>
          </a:prstGeom>
          <a:solidFill>
            <a:srgbClr val="EBF4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PStep2Acc"/>
          <p:cNvSpPr/>
          <p:nvPr/>
        </p:nvSpPr>
        <p:spPr>
          <a:xfrm>
            <a:off x="4828032" y="4224528"/>
            <a:ext cx="384048" cy="49377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5" name="PNum2"/>
          <p:cNvSpPr/>
          <p:nvPr/>
        </p:nvSpPr>
        <p:spPr>
          <a:xfrm>
            <a:off x="4828032" y="4224528"/>
            <a:ext cx="38404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sz="1200" b="1" dirty="0">
                <a:solidFill>
                  <a:srgbClr val="FFFFFF"/>
                </a:solidFill>
                <a:latin typeface="Calibri" pitchFamily="34" charset="0"/>
              </a:rPr>
              <a:t>③</a:t>
            </a:r>
          </a:p>
        </p:txBody>
      </p:sp>
      <p:sp>
        <p:nvSpPr>
          <p:cNvPr id="26" name="PTitle2"/>
          <p:cNvSpPr/>
          <p:nvPr/>
        </p:nvSpPr>
        <p:spPr>
          <a:xfrm>
            <a:off x="5321808" y="422452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zh-TW" sz="1200" b="1" dirty="0">
                <a:solidFill>
                  <a:srgbClr val="065A82"/>
                </a:solidFill>
                <a:latin typeface="Calibri" pitchFamily="34" charset="0"/>
              </a:rPr>
              <a:t>選取最高分模型</a:t>
            </a:r>
          </a:p>
        </p:txBody>
      </p:sp>
      <p:sp>
        <p:nvSpPr>
          <p:cNvPr id="27" name="PDesc2"/>
          <p:cNvSpPr/>
          <p:nvPr/>
        </p:nvSpPr>
        <p:spPr>
          <a:xfrm>
            <a:off x="5321808" y="447141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sz="1050" b="0" dirty="0">
                <a:solidFill>
                  <a:srgbClr val="4A5568"/>
                </a:solidFill>
                <a:latin typeface="Calibri" pitchFamily="34" charset="0"/>
              </a:rPr>
              <a:t>Macro F1 最高者作為該任務的最終模型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C82020D3-0693-E7E8-D78C-14A99A32BA90}"/>
                  </a:ext>
                </a:extLst>
              </p:cNvPr>
              <p:cNvSpPr txBox="1"/>
              <p:nvPr/>
            </p:nvSpPr>
            <p:spPr>
              <a:xfrm>
                <a:off x="-850911" y="4533572"/>
                <a:ext cx="6502421" cy="28353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900" i="0" smtClean="0">
                          <a:latin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altLang="zh-TW" sz="900" i="0" smtClean="0">
                          <a:latin typeface="Cambria Math" panose="02040503050406030204" pitchFamily="18" charset="0"/>
                        </a:rPr>
                        <m:t> </m:t>
                      </m:r>
                      <m:r>
                        <m:rPr>
                          <m:nor/>
                        </m:rPr>
                        <a:rPr lang="en-US" altLang="zh-TW" sz="900" i="0" smtClean="0">
                          <a:latin typeface="Cambria Math" panose="02040503050406030204" pitchFamily="18" charset="0"/>
                        </a:rPr>
                        <m:t>F</m:t>
                      </m:r>
                      <m:r>
                        <m:rPr>
                          <m:nor/>
                        </m:rPr>
                        <a:rPr lang="en-US" altLang="zh-TW" sz="900" i="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zh-TW" sz="900" i="1" smtClean="0">
                          <a:latin typeface="Cambria Math" panose="02040503050406030204" pitchFamily="18" charset="0"/>
                        </a:rPr>
                        <m:t> = </m:t>
                      </m:r>
                      <m:f>
                        <m:fPr>
                          <m:ctrlPr>
                            <a:rPr lang="en-US" altLang="zh-TW" sz="9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90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altLang="zh-TW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9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altLang="zh-TW" sz="900" i="0" smtClean="0">
                                  <a:latin typeface="Cambria Math" panose="02040503050406030204" pitchFamily="18" charset="0"/>
                                </a:rPr>
                                <m:t>Stage</m:t>
                              </m:r>
                              <m:r>
                                <m:rPr>
                                  <m:nor/>
                                </m:rPr>
                                <a:rPr lang="en-US" altLang="zh-TW" sz="900" i="0" smtClean="0">
                                  <a:latin typeface="Cambria Math" panose="02040503050406030204" pitchFamily="18" charset="0"/>
                                </a:rPr>
                                <m:t> 1</m:t>
                              </m:r>
                            </m:sub>
                          </m:sSub>
                          <m:r>
                            <a:rPr lang="en-US" altLang="zh-TW" sz="900" i="1" smtClean="0">
                              <a:latin typeface="Cambria Math" panose="02040503050406030204" pitchFamily="18" charset="0"/>
                            </a:rPr>
                            <m:t> + </m:t>
                          </m:r>
                          <m:r>
                            <a:rPr lang="en-US" altLang="zh-TW" sz="90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altLang="zh-TW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9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altLang="zh-TW" sz="900" i="0" smtClean="0">
                                  <a:latin typeface="Cambria Math" panose="02040503050406030204" pitchFamily="18" charset="0"/>
                                </a:rPr>
                                <m:t>Stage</m:t>
                              </m:r>
                              <m:r>
                                <m:rPr>
                                  <m:nor/>
                                </m:rPr>
                                <a:rPr lang="en-US" altLang="zh-TW" sz="900" i="0" smtClean="0">
                                  <a:latin typeface="Cambria Math" panose="02040503050406030204" pitchFamily="18" charset="0"/>
                                </a:rPr>
                                <m:t> 2</m:t>
                              </m:r>
                            </m:sub>
                          </m:sSub>
                          <m:r>
                            <a:rPr lang="en-US" altLang="zh-TW" sz="900" i="1" smtClean="0">
                              <a:latin typeface="Cambria Math" panose="02040503050406030204" pitchFamily="18" charset="0"/>
                            </a:rPr>
                            <m:t> + </m:t>
                          </m:r>
                          <m:r>
                            <a:rPr lang="en-US" altLang="zh-TW" sz="90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altLang="zh-TW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9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altLang="zh-TW" sz="900" i="0" smtClean="0">
                                  <a:latin typeface="Cambria Math" panose="02040503050406030204" pitchFamily="18" charset="0"/>
                                </a:rPr>
                                <m:t>Stage</m:t>
                              </m:r>
                              <m:r>
                                <m:rPr>
                                  <m:nor/>
                                </m:rPr>
                                <a:rPr lang="en-US" altLang="zh-TW" sz="900" i="0" smtClean="0">
                                  <a:latin typeface="Cambria Math" panose="02040503050406030204" pitchFamily="18" charset="0"/>
                                </a:rPr>
                                <m:t> 3</m:t>
                              </m:r>
                            </m:sub>
                          </m:sSub>
                          <m:r>
                            <a:rPr lang="en-US" altLang="zh-TW" sz="900" i="1" smtClean="0">
                              <a:latin typeface="Cambria Math" panose="02040503050406030204" pitchFamily="18" charset="0"/>
                            </a:rPr>
                            <m:t> + </m:t>
                          </m:r>
                          <m:r>
                            <a:rPr lang="en-US" altLang="zh-TW" sz="90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altLang="zh-TW" sz="9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90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altLang="zh-TW" sz="900" i="0" smtClean="0">
                                  <a:latin typeface="Cambria Math" panose="02040503050406030204" pitchFamily="18" charset="0"/>
                                </a:rPr>
                                <m:t>Stage</m:t>
                              </m:r>
                              <m:r>
                                <m:rPr>
                                  <m:nor/>
                                </m:rPr>
                                <a:rPr lang="en-US" altLang="zh-TW" sz="900" i="0" smtClean="0">
                                  <a:latin typeface="Cambria Math" panose="02040503050406030204" pitchFamily="18" charset="0"/>
                                </a:rPr>
                                <m:t> 4</m:t>
                              </m:r>
                            </m:sub>
                          </m:sSub>
                        </m:num>
                        <m:den>
                          <m:r>
                            <a:rPr lang="en-US" altLang="zh-TW" sz="90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zh-TW" altLang="en-US" sz="9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C82020D3-0693-E7E8-D78C-14A99A32BA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850911" y="4533572"/>
                <a:ext cx="6502421" cy="283539"/>
              </a:xfrm>
              <a:prstGeom prst="rect">
                <a:avLst/>
              </a:prstGeom>
              <a:blipFill>
                <a:blip r:embed="rId2"/>
                <a:stretch>
                  <a:fillRect t="-2174" b="-173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1F4CFB1-A0CE-6BA4-54F0-7826275B27CA}"/>
                  </a:ext>
                </a:extLst>
              </p:cNvPr>
              <p:cNvSpPr txBox="1"/>
              <p:nvPr/>
            </p:nvSpPr>
            <p:spPr>
              <a:xfrm>
                <a:off x="1701389" y="4000422"/>
                <a:ext cx="1397819" cy="26532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900" i="0" smtClean="0">
                          <a:latin typeface="Cambria Math" panose="02040503050406030204" pitchFamily="18" charset="0"/>
                        </a:rPr>
                        <m:t>F</m:t>
                      </m:r>
                      <m:r>
                        <m:rPr>
                          <m:nor/>
                        </m:rPr>
                        <a:rPr lang="en-US" altLang="zh-TW" sz="900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zh-TW" sz="90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altLang="zh-TW" sz="900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altLang="zh-TW" sz="9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altLang="zh-TW" sz="900" i="0">
                              <a:latin typeface="Cambria Math" panose="02040503050406030204" pitchFamily="18" charset="0"/>
                            </a:rPr>
                            <m:t>Precision</m:t>
                          </m:r>
                          <m:r>
                            <a:rPr lang="en-US" altLang="zh-TW" sz="900" i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m:rPr>
                              <m:nor/>
                            </m:rPr>
                            <a:rPr lang="en-US" altLang="zh-TW" sz="900" i="0">
                              <a:latin typeface="Cambria Math" panose="02040503050406030204" pitchFamily="18" charset="0"/>
                            </a:rPr>
                            <m:t>Recall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altLang="zh-TW" sz="900" i="0">
                              <a:latin typeface="Cambria Math" panose="02040503050406030204" pitchFamily="18" charset="0"/>
                            </a:rPr>
                            <m:t>Precision</m:t>
                          </m:r>
                          <m:r>
                            <a:rPr lang="en-US" altLang="zh-TW" sz="9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en-US" altLang="zh-TW" sz="900" i="0">
                              <a:latin typeface="Cambria Math" panose="02040503050406030204" pitchFamily="18" charset="0"/>
                            </a:rPr>
                            <m:t>Recall</m:t>
                          </m:r>
                        </m:den>
                      </m:f>
                    </m:oMath>
                  </m:oMathPara>
                </a14:m>
                <a:endParaRPr lang="zh-TW" altLang="en-US" sz="9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81F4CFB1-A0CE-6BA4-54F0-7826275B27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389" y="4000422"/>
                <a:ext cx="1397819" cy="265329"/>
              </a:xfrm>
              <a:prstGeom prst="rect">
                <a:avLst/>
              </a:prstGeom>
              <a:blipFill>
                <a:blip r:embed="rId3"/>
                <a:stretch>
                  <a:fillRect l="-1747" t="-2273" r="-1310" b="-1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vBg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itle"/>
          <p:cNvSpPr/>
          <p:nvPr/>
        </p:nvSpPr>
        <p:spPr>
          <a:xfrm>
            <a:off x="365760" y="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sz="1800" b="1" dirty="0">
                <a:solidFill>
                  <a:srgbClr val="FFFFFF"/>
                </a:solidFill>
                <a:latin typeface="Calibri" pitchFamily="34" charset="0"/>
              </a:rPr>
              <a:t>Stacking Ensemble 實驗</a:t>
            </a:r>
          </a:p>
        </p:txBody>
      </p:sp>
      <p:sp>
        <p:nvSpPr>
          <p:cNvPr id="4" name="SlideNum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</a:p>
        </p:txBody>
      </p:sp>
      <p:sp>
        <p:nvSpPr>
          <p:cNvPr id="5" name="ExpBg"/>
          <p:cNvSpPr/>
          <p:nvPr/>
        </p:nvSpPr>
        <p:spPr>
          <a:xfrm>
            <a:off x="320040" y="640080"/>
            <a:ext cx="85039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ExpAccent"/>
          <p:cNvSpPr/>
          <p:nvPr/>
        </p:nvSpPr>
        <p:spPr>
          <a:xfrm>
            <a:off x="320040" y="640080"/>
            <a:ext cx="64008" cy="71323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ExpText"/>
          <p:cNvSpPr/>
          <p:nvPr/>
        </p:nvSpPr>
        <p:spPr>
          <a:xfrm>
            <a:off x="475488" y="65836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sz="1200" b="1" dirty="0">
                <a:solidFill>
                  <a:srgbClr val="065A82"/>
                </a:solidFill>
                <a:latin typeface="Calibri" pitchFamily="34" charset="0"/>
              </a:rPr>
              <a:t>什麼是 Stacking？</a:t>
            </a:r>
          </a:p>
          <a:p>
            <a:pPr marL="0" indent="0" algn="l">
              <a:buNone/>
            </a:pPr>
            <a:r>
              <a:rPr lang="zh-TW" sz="1100" b="0" dirty="0">
                <a:solidFill>
                  <a:srgbClr val="4A5568"/>
                </a:solidFill>
                <a:latin typeface="Calibri" pitchFamily="34" charset="0"/>
              </a:rPr>
              <a:t>多個 Base Model 各自輸出預測機率向量，再由 Meta-learner（Logistic Regression）學習如何最佳組合各模型的輸出，取長補短</a:t>
            </a:r>
          </a:p>
        </p:txBody>
      </p:sp>
      <p:sp>
        <p:nvSpPr>
          <p:cNvPr id="8" name="SelBg"/>
          <p:cNvSpPr/>
          <p:nvPr/>
        </p:nvSpPr>
        <p:spPr>
          <a:xfrm>
            <a:off x="320040" y="1463040"/>
            <a:ext cx="8503920" cy="502920"/>
          </a:xfrm>
          <a:prstGeom prst="rect">
            <a:avLst/>
          </a:prstGeom>
          <a:solidFill>
            <a:srgbClr val="EBF4FF"/>
          </a:solidFill>
          <a:ln w="12700">
            <a:solidFill>
              <a:srgbClr val="BEE3F8"/>
            </a:solidFill>
            <a:prstDash val="solid"/>
          </a:ln>
        </p:spPr>
      </p:sp>
      <p:sp>
        <p:nvSpPr>
          <p:cNvPr id="9" name="SelAcc"/>
          <p:cNvSpPr/>
          <p:nvPr/>
        </p:nvSpPr>
        <p:spPr>
          <a:xfrm>
            <a:off x="320040" y="1463040"/>
            <a:ext cx="64008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SelText"/>
          <p:cNvSpPr/>
          <p:nvPr/>
        </p:nvSpPr>
        <p:spPr>
          <a:xfrm>
            <a:off x="475488" y="1463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sz="1150" b="0" dirty="0">
                <a:solidFill>
                  <a:srgbClr val="065A82"/>
                </a:solidFill>
                <a:latin typeface="Calibri" pitchFamily="34" charset="0"/>
              </a:rPr>
              <a:t>選取原則：驗證集 Macro F1 前三名，且須來自不同模型家族（避免同質性，確保多樣性互補）</a:t>
            </a:r>
          </a:p>
        </p:txBody>
      </p:sp>
      <p:sp>
        <p:nvSpPr>
          <p:cNvPr id="11" name="M0Bg"/>
          <p:cNvSpPr/>
          <p:nvPr/>
        </p:nvSpPr>
        <p:spPr>
          <a:xfrm>
            <a:off x="320040" y="2103120"/>
            <a:ext cx="2633472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M0Hdr"/>
          <p:cNvSpPr/>
          <p:nvPr/>
        </p:nvSpPr>
        <p:spPr>
          <a:xfrm>
            <a:off x="320040" y="2103120"/>
            <a:ext cx="2633472" cy="411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M0HdrTxt"/>
          <p:cNvSpPr/>
          <p:nvPr/>
        </p:nvSpPr>
        <p:spPr>
          <a:xfrm>
            <a:off x="320040" y="2103120"/>
            <a:ext cx="2633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sz="1500" b="1" dirty="0">
                <a:solidFill>
                  <a:srgbClr val="FFFFFF"/>
                </a:solidFill>
                <a:latin typeface="Calibri" pitchFamily="34" charset="0"/>
              </a:rPr>
              <a:t>Model 1</a:t>
            </a:r>
          </a:p>
        </p:txBody>
      </p:sp>
      <p:sp>
        <p:nvSpPr>
          <p:cNvPr id="14" name="M0Task"/>
          <p:cNvSpPr/>
          <p:nvPr/>
        </p:nvSpPr>
        <p:spPr>
          <a:xfrm>
            <a:off x="411479" y="2578608"/>
            <a:ext cx="24505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sz="1150" b="0" dirty="0">
                <a:solidFill>
                  <a:srgbClr val="4A5568"/>
                </a:solidFill>
                <a:latin typeface="Calibri" pitchFamily="34" charset="0"/>
              </a:rPr>
              <a:t>Stage 4 vs. Others</a:t>
            </a:r>
          </a:p>
        </p:txBody>
      </p:sp>
      <p:sp>
        <p:nvSpPr>
          <p:cNvPr id="15" name="M0ModBg"/>
          <p:cNvSpPr/>
          <p:nvPr/>
        </p:nvSpPr>
        <p:spPr>
          <a:xfrm>
            <a:off x="411479" y="2926080"/>
            <a:ext cx="2450591" cy="502920"/>
          </a:xfrm>
          <a:prstGeom prst="rect">
            <a:avLst/>
          </a:prstGeom>
          <a:solidFill>
            <a:srgbClr val="F4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M0Mods"/>
          <p:cNvSpPr/>
          <p:nvPr/>
        </p:nvSpPr>
        <p:spPr>
          <a:xfrm>
            <a:off x="457200" y="294436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sz="950" b="1" dirty="0">
                <a:solidFill>
                  <a:srgbClr val="065A82"/>
                </a:solidFill>
                <a:latin typeface="Calibri" pitchFamily="34" charset="0"/>
              </a:rPr>
              <a:t>Base Models:</a:t>
            </a:r>
          </a:p>
          <a:p>
            <a:r>
              <a:rPr lang="zh-TW" sz="950" b="0" dirty="0">
                <a:solidFill>
                  <a:srgbClr val="4A5568"/>
                </a:solidFill>
                <a:latin typeface="Calibri" pitchFamily="34" charset="0"/>
              </a:rPr>
              <a:t>DenseNet 家族 + </a:t>
            </a:r>
            <a:r>
              <a:rPr lang="zh-TW" altLang="zh-TW" sz="950" dirty="0">
                <a:solidFill>
                  <a:srgbClr val="4A5568"/>
                </a:solidFill>
                <a:latin typeface="Calibri" pitchFamily="34" charset="0"/>
              </a:rPr>
              <a:t>ConvNeXt</a:t>
            </a:r>
            <a:r>
              <a:rPr lang="zh-TW" sz="950" b="0" dirty="0">
                <a:solidFill>
                  <a:srgbClr val="4A5568"/>
                </a:solidFill>
                <a:latin typeface="Calibri" pitchFamily="34" charset="0"/>
              </a:rPr>
              <a:t> 家族 + </a:t>
            </a:r>
            <a:r>
              <a:rPr lang="zh-TW" altLang="zh-TW" sz="950" dirty="0">
                <a:solidFill>
                  <a:srgbClr val="4A5568"/>
                </a:solidFill>
                <a:latin typeface="Calibri" pitchFamily="34" charset="0"/>
              </a:rPr>
              <a:t>EfficientNet</a:t>
            </a:r>
            <a:r>
              <a:rPr lang="zh-TW" sz="950" b="0" dirty="0">
                <a:solidFill>
                  <a:srgbClr val="4A5568"/>
                </a:solidFill>
                <a:latin typeface="Calibri" pitchFamily="34" charset="0"/>
              </a:rPr>
              <a:t>家族</a:t>
            </a:r>
          </a:p>
        </p:txBody>
      </p:sp>
      <p:sp>
        <p:nvSpPr>
          <p:cNvPr id="17" name="M0ResBg"/>
          <p:cNvSpPr/>
          <p:nvPr/>
        </p:nvSpPr>
        <p:spPr>
          <a:xfrm>
            <a:off x="411479" y="3520440"/>
            <a:ext cx="2450591" cy="777240"/>
          </a:xfrm>
          <a:prstGeom prst="rect">
            <a:avLst/>
          </a:prstGeom>
          <a:solidFill>
            <a:srgbClr val="FFF3CD"/>
          </a:solidFill>
          <a:ln w="12700">
            <a:solidFill>
              <a:srgbClr val="FFF3CD"/>
            </a:solidFill>
            <a:prstDash val="solid"/>
          </a:ln>
        </p:spPr>
      </p:sp>
      <p:sp>
        <p:nvSpPr>
          <p:cNvPr id="18" name="M0ResText"/>
          <p:cNvSpPr/>
          <p:nvPr/>
        </p:nvSpPr>
        <p:spPr>
          <a:xfrm>
            <a:off x="457200" y="3547872"/>
            <a:ext cx="2359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zh-TW" sz="1100" b="0" dirty="0">
                <a:solidFill>
                  <a:srgbClr val="856404"/>
                </a:solidFill>
                <a:latin typeface="Calibri" pitchFamily="34" charset="0"/>
              </a:rPr>
              <a:t>Stacking 效果未提升</a:t>
            </a:r>
          </a:p>
          <a:p>
            <a:pPr marL="0" indent="0" algn="ctr">
              <a:buNone/>
            </a:pPr>
            <a:r>
              <a:rPr lang="zh-TW" sz="1100" b="0" dirty="0">
                <a:solidFill>
                  <a:srgbClr val="856404"/>
                </a:solidFill>
                <a:latin typeface="Calibri" pitchFamily="34" charset="0"/>
              </a:rPr>
              <a:t>→ 維持單一最佳模型</a:t>
            </a:r>
          </a:p>
        </p:txBody>
      </p:sp>
      <p:sp>
        <p:nvSpPr>
          <p:cNvPr id="19" name="M1Bg"/>
          <p:cNvSpPr/>
          <p:nvPr/>
        </p:nvSpPr>
        <p:spPr>
          <a:xfrm>
            <a:off x="3108960" y="2103120"/>
            <a:ext cx="2633472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M1Hdr"/>
          <p:cNvSpPr/>
          <p:nvPr/>
        </p:nvSpPr>
        <p:spPr>
          <a:xfrm>
            <a:off x="3108960" y="2103120"/>
            <a:ext cx="2633472" cy="4114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1" name="M1HdrTxt"/>
          <p:cNvSpPr/>
          <p:nvPr/>
        </p:nvSpPr>
        <p:spPr>
          <a:xfrm>
            <a:off x="3108960" y="2103120"/>
            <a:ext cx="2633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sz="1500" b="1" dirty="0">
                <a:solidFill>
                  <a:srgbClr val="FFFFFF"/>
                </a:solidFill>
                <a:latin typeface="Calibri" pitchFamily="34" charset="0"/>
              </a:rPr>
              <a:t>Model 2</a:t>
            </a:r>
          </a:p>
        </p:txBody>
      </p:sp>
      <p:sp>
        <p:nvSpPr>
          <p:cNvPr id="22" name="M1Task"/>
          <p:cNvSpPr/>
          <p:nvPr/>
        </p:nvSpPr>
        <p:spPr>
          <a:xfrm>
            <a:off x="3200400" y="2578608"/>
            <a:ext cx="24505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sz="1150" b="0" dirty="0">
                <a:solidFill>
                  <a:srgbClr val="4A5568"/>
                </a:solidFill>
                <a:latin typeface="Calibri" pitchFamily="34" charset="0"/>
              </a:rPr>
              <a:t>Stage 1 vs. Others</a:t>
            </a:r>
          </a:p>
        </p:txBody>
      </p:sp>
      <p:sp>
        <p:nvSpPr>
          <p:cNvPr id="23" name="M1ModBg"/>
          <p:cNvSpPr/>
          <p:nvPr/>
        </p:nvSpPr>
        <p:spPr>
          <a:xfrm>
            <a:off x="3200400" y="2926080"/>
            <a:ext cx="2450591" cy="502920"/>
          </a:xfrm>
          <a:prstGeom prst="rect">
            <a:avLst/>
          </a:prstGeom>
          <a:solidFill>
            <a:srgbClr val="F4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M1Mods"/>
          <p:cNvSpPr/>
          <p:nvPr/>
        </p:nvSpPr>
        <p:spPr>
          <a:xfrm>
            <a:off x="3246120" y="294436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sz="950" b="1" dirty="0">
                <a:solidFill>
                  <a:srgbClr val="065A82"/>
                </a:solidFill>
                <a:latin typeface="Calibri" pitchFamily="34" charset="0"/>
              </a:rPr>
              <a:t>Base Models:</a:t>
            </a:r>
          </a:p>
          <a:p>
            <a:pPr marL="0" indent="0" algn="l">
              <a:buNone/>
            </a:pPr>
            <a:r>
              <a:rPr lang="zh-TW" sz="950" b="0" dirty="0">
                <a:solidFill>
                  <a:srgbClr val="4A5568"/>
                </a:solidFill>
                <a:latin typeface="Calibri" pitchFamily="34" charset="0"/>
              </a:rPr>
              <a:t>EfficientNet-B0 + ResNet50 + ConvNeXt-Tiny</a:t>
            </a:r>
          </a:p>
        </p:txBody>
      </p:sp>
      <p:sp>
        <p:nvSpPr>
          <p:cNvPr id="25" name="M1ResBg"/>
          <p:cNvSpPr/>
          <p:nvPr/>
        </p:nvSpPr>
        <p:spPr>
          <a:xfrm>
            <a:off x="3200400" y="3520440"/>
            <a:ext cx="2450591" cy="777240"/>
          </a:xfrm>
          <a:prstGeom prst="rect">
            <a:avLst/>
          </a:prstGeom>
          <a:solidFill>
            <a:srgbClr val="D4EDDA"/>
          </a:solidFill>
          <a:ln w="12700">
            <a:solidFill>
              <a:srgbClr val="D4EDDA"/>
            </a:solidFill>
            <a:prstDash val="solid"/>
          </a:ln>
        </p:spPr>
      </p:sp>
      <p:sp>
        <p:nvSpPr>
          <p:cNvPr id="26" name="M1ResText"/>
          <p:cNvSpPr/>
          <p:nvPr/>
        </p:nvSpPr>
        <p:spPr>
          <a:xfrm>
            <a:off x="3246120" y="3547872"/>
            <a:ext cx="2359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zh-TW" sz="1100" b="1" dirty="0">
                <a:solidFill>
                  <a:srgbClr val="155724"/>
                </a:solidFill>
                <a:latin typeface="Calibri" pitchFamily="34" charset="0"/>
              </a:rPr>
              <a:t>Stacking 效果有提升 ✓</a:t>
            </a:r>
          </a:p>
          <a:p>
            <a:pPr marL="0" indent="0" algn="ctr">
              <a:buNone/>
            </a:pPr>
            <a:r>
              <a:rPr lang="zh-TW" sz="1100" b="1" dirty="0">
                <a:solidFill>
                  <a:srgbClr val="155724"/>
                </a:solidFill>
                <a:latin typeface="Calibri" pitchFamily="34" charset="0"/>
              </a:rPr>
              <a:t>→ 採用 Stacking Ensemble</a:t>
            </a:r>
          </a:p>
        </p:txBody>
      </p:sp>
      <p:sp>
        <p:nvSpPr>
          <p:cNvPr id="27" name="M2Bg"/>
          <p:cNvSpPr/>
          <p:nvPr/>
        </p:nvSpPr>
        <p:spPr>
          <a:xfrm>
            <a:off x="5897879" y="2103120"/>
            <a:ext cx="2633472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M2Hdr"/>
          <p:cNvSpPr/>
          <p:nvPr/>
        </p:nvSpPr>
        <p:spPr>
          <a:xfrm>
            <a:off x="5897879" y="2103120"/>
            <a:ext cx="2633472" cy="411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9" name="M2HdrTxt"/>
          <p:cNvSpPr/>
          <p:nvPr/>
        </p:nvSpPr>
        <p:spPr>
          <a:xfrm>
            <a:off x="5897879" y="2103120"/>
            <a:ext cx="2633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sz="1500" b="1" dirty="0">
                <a:solidFill>
                  <a:srgbClr val="FFFFFF"/>
                </a:solidFill>
                <a:latin typeface="Calibri" pitchFamily="34" charset="0"/>
              </a:rPr>
              <a:t>Model 3</a:t>
            </a:r>
          </a:p>
        </p:txBody>
      </p:sp>
      <p:sp>
        <p:nvSpPr>
          <p:cNvPr id="30" name="M2Task"/>
          <p:cNvSpPr/>
          <p:nvPr/>
        </p:nvSpPr>
        <p:spPr>
          <a:xfrm>
            <a:off x="5989319" y="2578608"/>
            <a:ext cx="24505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sz="1150" b="0" dirty="0">
                <a:solidFill>
                  <a:srgbClr val="4A5568"/>
                </a:solidFill>
                <a:latin typeface="Calibri" pitchFamily="34" charset="0"/>
              </a:rPr>
              <a:t>Stage 2 vs. Stage 3</a:t>
            </a:r>
          </a:p>
        </p:txBody>
      </p:sp>
      <p:sp>
        <p:nvSpPr>
          <p:cNvPr id="31" name="M2ModBg"/>
          <p:cNvSpPr/>
          <p:nvPr/>
        </p:nvSpPr>
        <p:spPr>
          <a:xfrm>
            <a:off x="5989319" y="2926080"/>
            <a:ext cx="2450591" cy="502920"/>
          </a:xfrm>
          <a:prstGeom prst="rect">
            <a:avLst/>
          </a:prstGeom>
          <a:solidFill>
            <a:srgbClr val="F4F8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M2Mods"/>
          <p:cNvSpPr/>
          <p:nvPr/>
        </p:nvSpPr>
        <p:spPr>
          <a:xfrm>
            <a:off x="6035040" y="294436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sz="950" b="1" dirty="0">
                <a:solidFill>
                  <a:srgbClr val="065A82"/>
                </a:solidFill>
                <a:latin typeface="Calibri" pitchFamily="34" charset="0"/>
              </a:rPr>
              <a:t>Base Models:</a:t>
            </a:r>
          </a:p>
          <a:p>
            <a:pPr marL="0" indent="0" algn="l">
              <a:buNone/>
            </a:pPr>
            <a:r>
              <a:rPr lang="zh-TW" sz="950" b="0" dirty="0">
                <a:solidFill>
                  <a:srgbClr val="4A5568"/>
                </a:solidFill>
                <a:latin typeface="Calibri" pitchFamily="34" charset="0"/>
              </a:rPr>
              <a:t>DenseNet 家族 + EfficientNet 家族 + ConvNeXt 家族</a:t>
            </a:r>
          </a:p>
        </p:txBody>
      </p:sp>
      <p:sp>
        <p:nvSpPr>
          <p:cNvPr id="33" name="M2ResBg"/>
          <p:cNvSpPr/>
          <p:nvPr/>
        </p:nvSpPr>
        <p:spPr>
          <a:xfrm>
            <a:off x="5989319" y="3520440"/>
            <a:ext cx="2450591" cy="777240"/>
          </a:xfrm>
          <a:prstGeom prst="rect">
            <a:avLst/>
          </a:prstGeom>
          <a:solidFill>
            <a:srgbClr val="FFF3CD"/>
          </a:solidFill>
          <a:ln w="12700">
            <a:solidFill>
              <a:srgbClr val="FFF3CD"/>
            </a:solidFill>
            <a:prstDash val="solid"/>
          </a:ln>
        </p:spPr>
      </p:sp>
      <p:sp>
        <p:nvSpPr>
          <p:cNvPr id="34" name="M2ResText"/>
          <p:cNvSpPr/>
          <p:nvPr/>
        </p:nvSpPr>
        <p:spPr>
          <a:xfrm>
            <a:off x="6035040" y="3547872"/>
            <a:ext cx="2359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zh-TW" sz="1100" b="0" dirty="0">
                <a:solidFill>
                  <a:srgbClr val="856404"/>
                </a:solidFill>
                <a:latin typeface="Calibri" pitchFamily="34" charset="0"/>
              </a:rPr>
              <a:t>Stacking 效果未提升</a:t>
            </a:r>
          </a:p>
          <a:p>
            <a:pPr marL="0" indent="0" algn="ctr">
              <a:buNone/>
            </a:pPr>
            <a:r>
              <a:rPr lang="zh-TW" sz="1100" b="0" dirty="0">
                <a:solidFill>
                  <a:srgbClr val="856404"/>
                </a:solidFill>
                <a:latin typeface="Calibri" pitchFamily="34" charset="0"/>
              </a:rPr>
              <a:t>→ 維持單一最佳模型</a:t>
            </a:r>
          </a:p>
        </p:txBody>
      </p:sp>
      <p:sp>
        <p:nvSpPr>
          <p:cNvPr id="35" name="SumBg"/>
          <p:cNvSpPr/>
          <p:nvPr/>
        </p:nvSpPr>
        <p:spPr>
          <a:xfrm>
            <a:off x="320040" y="4828032"/>
            <a:ext cx="8503920" cy="256032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6" name="SumText"/>
          <p:cNvSpPr/>
          <p:nvPr/>
        </p:nvSpPr>
        <p:spPr>
          <a:xfrm>
            <a:off x="457200" y="4828032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sz="1000" b="0" dirty="0">
                <a:solidFill>
                  <a:srgbClr val="02C39A"/>
                </a:solidFill>
                <a:latin typeface="Calibri" pitchFamily="34" charset="0"/>
              </a:rPr>
              <a:t>結論：Stacking 僅在 Model 2（Stage 1 辨識）帶來改善；其他兩個任務維持單一最佳模型，避免增加不必要的複雜度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模組三：深度學習模型設計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41148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658368"/>
            <a:ext cx="411480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83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1 &amp; 3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1234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DenseNet121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3840480" cy="59436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755648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任務：Stage 4 vs. Others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vs. Stage 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245059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核心特點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816352"/>
            <a:ext cx="164592" cy="164592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788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connectivity 促進特徵重用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273552"/>
            <a:ext cx="164592" cy="164592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2461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200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最終層替換為二元分類頭</a:t>
            </a:r>
            <a:endParaRPr lang="en-US" altLang="zh-TW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703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709160" y="658368"/>
            <a:ext cx="41148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09160" y="658368"/>
            <a:ext cx="41148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6583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234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Ensemble</a:t>
            </a:r>
            <a:endParaRPr lang="en-US" sz="2800" dirty="0"/>
          </a:p>
        </p:txBody>
      </p:sp>
      <p:sp>
        <p:nvSpPr>
          <p:cNvPr id="22" name="Shape 20"/>
          <p:cNvSpPr/>
          <p:nvPr/>
        </p:nvSpPr>
        <p:spPr>
          <a:xfrm>
            <a:off x="4846320" y="1755648"/>
            <a:ext cx="3840480" cy="59436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1755648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任務：Stage 1 vs. Others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46320" y="245059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核心特點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46320" y="2816352"/>
            <a:ext cx="164592" cy="16459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0" y="2788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EfficientNet-B0 + ResNet50 + ConvNeXt-Tiny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846320" y="3273552"/>
            <a:ext cx="164592" cy="16459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20640" y="32461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各模型獨立訓練後輸出機率向量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846320" y="3730752"/>
            <a:ext cx="164592" cy="16459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20640" y="3703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Meta-learner 學習如何最佳組合三個模型的輸出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846320" y="4187952"/>
            <a:ext cx="164592" cy="16459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20640" y="41605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驗證集與測試集均優於單一模型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65760" y="4736592"/>
            <a:ext cx="8412480" cy="292608"/>
          </a:xfrm>
          <a:prstGeom prst="rect">
            <a:avLst/>
          </a:prstGeom>
          <a:solidFill>
            <a:srgbClr val="EDF2F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47365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共用設定：Adam Optimizer  ·  Learning Rate 1e-4  ·  Data Augmentation (</a:t>
            </a:r>
            <a:r>
              <a:rPr lang="zh-TW" alt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隨機旋轉 </a:t>
            </a:r>
            <a:r>
              <a:rPr lang="en-US" altLang="zh-TW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</a:t>
            </a:r>
            <a:r>
              <a:rPr lang="zh-TW" alt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度</a:t>
            </a:r>
            <a:r>
              <a:rPr lang="en-US" altLang="zh-TW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· </a:t>
            </a: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Checkpointing (</a:t>
            </a:r>
            <a:r>
              <a:rPr lang="zh-TW" alt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儲存最佳權重</a:t>
            </a:r>
            <a:r>
              <a:rPr lang="en-US" altLang="zh-TW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</a:t>
            </a:r>
            <a:r>
              <a:rPr lang="zh-TW" alt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視覺化</a:t>
            </a:r>
          </a:p>
        </p:txBody>
      </p:sp>
      <p:sp>
        <p:nvSpPr>
          <p:cNvPr id="4" name="Text 2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4114800" cy="4297680"/>
          </a:xfrm>
          <a:prstGeom prst="rect">
            <a:avLst/>
          </a:prstGeom>
          <a:solidFill>
            <a:srgbClr val="0D2231"/>
          </a:solidFill>
          <a:ln w="1905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658368"/>
            <a:ext cx="4114800" cy="502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83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熱力圖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20700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Gradient-weighted Class Activation Mapping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600200"/>
            <a:ext cx="3840480" cy="1645920"/>
          </a:xfrm>
          <a:prstGeom prst="rect">
            <a:avLst/>
          </a:prstGeom>
          <a:solidFill>
            <a:srgbClr val="1A3045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600200"/>
            <a:ext cx="3840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示意圖 / 實際分析圖 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337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視覺化模型關注的影像區域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366674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熱力圖疊加於原始 X 光上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39959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醫師可直觀確認模型決策依據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2920" y="43251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驗證模型聚焦於股骨頭病灶，非骨盆或股骨幹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09160" y="658368"/>
            <a:ext cx="4114800" cy="4297680"/>
          </a:xfrm>
          <a:prstGeom prst="rect">
            <a:avLst/>
          </a:prstGeom>
          <a:solidFill>
            <a:srgbClr val="0D2231"/>
          </a:solidFill>
          <a:ln w="19050">
            <a:solidFill>
              <a:srgbClr val="6B46C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09160" y="658368"/>
            <a:ext cx="4114800" cy="502920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6583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t-SNE 特徵空間分析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46320" y="120700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t-Distributed Stochastic Neighbor Embedding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1600200"/>
            <a:ext cx="3840480" cy="1645920"/>
          </a:xfrm>
          <a:prstGeom prst="rect">
            <a:avLst/>
          </a:prstGeom>
          <a:solidFill>
            <a:srgbClr val="1A3045"/>
          </a:solidFill>
          <a:ln w="6350">
            <a:solidFill>
              <a:srgbClr val="6B46C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1600200"/>
            <a:ext cx="3840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示意圖 / 實際分析圖 ]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46320" y="33375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將高維特徵向量投影至 2D 空間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46320" y="366674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視覺化各 Stage 的特徵分佈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46320" y="39959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評估模型的類別可分離程度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46320" y="43251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觀察 Stage 2/3 的特徵重疊情況</a:t>
            </a:r>
            <a:endParaRPr lang="en-US" sz="1200" dirty="0"/>
          </a:p>
        </p:txBody>
      </p:sp>
      <p:pic>
        <p:nvPicPr>
          <p:cNvPr id="29" name="圖片 28">
            <a:extLst>
              <a:ext uri="{FF2B5EF4-FFF2-40B4-BE49-F238E27FC236}">
                <a16:creationId xmlns:a16="http://schemas.microsoft.com/office/drawing/2014/main" id="{DF121B28-4DE0-C59B-EA66-94159AC88B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1" y="1752371"/>
            <a:ext cx="3840478" cy="1344841"/>
          </a:xfrm>
          <a:prstGeom prst="rect">
            <a:avLst/>
          </a:prstGeom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9092D838-BCB8-DFC6-EDB7-D5695253B4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609344"/>
            <a:ext cx="1922569" cy="1645920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C5D75CD3-8A5B-B225-6960-3BA5332FD1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8890" y="1609344"/>
            <a:ext cx="192396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系統實驗結果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0040" y="594360"/>
            <a:ext cx="1325880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20040" y="621792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95.1%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20040" y="121310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Accuracy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16230" y="143560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/ 41 correct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181858" y="594360"/>
            <a:ext cx="1325880" cy="10515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181858" y="621792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89.1%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185668" y="121310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Accuracy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178048" y="144170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/ 46 correct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608322" y="594360"/>
            <a:ext cx="1325880" cy="1051560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08322" y="621792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87.7%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608322" y="120700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Macro F1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600702" y="1453896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avg. F1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1749044" y="594360"/>
            <a:ext cx="1325880" cy="105156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749044" y="621792"/>
            <a:ext cx="1325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94.5%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742694" y="121310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Macro F1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742694" y="143560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avg. F1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20040" y="1764792"/>
            <a:ext cx="224545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</a:t>
            </a:r>
            <a:r>
              <a:rPr lang="zh-TW" alt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級</a:t>
            </a:r>
            <a:r>
              <a:rPr lang="en-US" sz="1200" b="1" dirty="0" err="1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別效能（Hierarchical</a:t>
            </a: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系統）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172200" y="2027643"/>
            <a:ext cx="685800" cy="273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858000" y="2027011"/>
            <a:ext cx="822960" cy="2743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0" y="2027011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680960" y="2027011"/>
            <a:ext cx="685800" cy="2743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0" y="2027011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366760" y="2027011"/>
            <a:ext cx="685800" cy="2743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66760" y="2027011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172200" y="2302089"/>
            <a:ext cx="685800" cy="328426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72200" y="2302089"/>
            <a:ext cx="685800" cy="3284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58000" y="2301331"/>
            <a:ext cx="822960" cy="329184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2301331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680960" y="2301331"/>
            <a:ext cx="685800" cy="329184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680960" y="2301331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62.5%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366760" y="2301331"/>
            <a:ext cx="685800" cy="329184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66760" y="2301331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76.9%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172200" y="2631273"/>
            <a:ext cx="685800" cy="32842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631273"/>
            <a:ext cx="685800" cy="3284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858000" y="2630515"/>
            <a:ext cx="82296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0" y="2630515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85.0%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680960" y="2630515"/>
            <a:ext cx="6858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80960" y="2630515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94.4%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366760" y="2630515"/>
            <a:ext cx="6858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366760" y="2630515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89.5%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172200" y="2960457"/>
            <a:ext cx="685800" cy="328426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172200" y="2960457"/>
            <a:ext cx="685800" cy="3284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858000" y="2959699"/>
            <a:ext cx="822960" cy="329184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58000" y="2959699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80.0%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680960" y="2959699"/>
            <a:ext cx="685800" cy="329184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80960" y="2959699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88.9%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8366760" y="2959699"/>
            <a:ext cx="685800" cy="329184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366760" y="2959699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84.2%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172200" y="3289641"/>
            <a:ext cx="685800" cy="328426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72200" y="3289641"/>
            <a:ext cx="685800" cy="3284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858000" y="3288883"/>
            <a:ext cx="82296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858000" y="3288883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7680960" y="3288883"/>
            <a:ext cx="6858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680960" y="3288883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8366760" y="3288883"/>
            <a:ext cx="6858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366760" y="3288883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100.0%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6172200" y="3618825"/>
            <a:ext cx="685800" cy="32842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172200" y="3618825"/>
            <a:ext cx="685800" cy="3284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858000" y="3618067"/>
            <a:ext cx="822960" cy="329184"/>
          </a:xfrm>
          <a:prstGeom prst="rect">
            <a:avLst/>
          </a:prstGeom>
          <a:solidFill>
            <a:srgbClr val="EBF4FF"/>
          </a:solidFill>
          <a:ln w="6350">
            <a:solidFill>
              <a:srgbClr val="BEE3F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858000" y="3618067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91.3%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7680960" y="3618067"/>
            <a:ext cx="685800" cy="329184"/>
          </a:xfrm>
          <a:prstGeom prst="rect">
            <a:avLst/>
          </a:prstGeom>
          <a:solidFill>
            <a:srgbClr val="EBF4FF"/>
          </a:solidFill>
          <a:ln w="6350">
            <a:solidFill>
              <a:srgbClr val="BEE3F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680960" y="3618067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86.5%</a:t>
            </a:r>
            <a:endParaRPr lang="en-US" sz="1100" dirty="0"/>
          </a:p>
        </p:txBody>
      </p:sp>
      <p:sp>
        <p:nvSpPr>
          <p:cNvPr id="80" name="Shape 78"/>
          <p:cNvSpPr/>
          <p:nvPr/>
        </p:nvSpPr>
        <p:spPr>
          <a:xfrm>
            <a:off x="8366760" y="3618067"/>
            <a:ext cx="685800" cy="329184"/>
          </a:xfrm>
          <a:prstGeom prst="rect">
            <a:avLst/>
          </a:prstGeom>
          <a:solidFill>
            <a:srgbClr val="EBF4FF"/>
          </a:solidFill>
          <a:ln w="6350">
            <a:solidFill>
              <a:srgbClr val="BEE3F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366760" y="3618067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87.7%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6172200" y="4100500"/>
            <a:ext cx="2880360" cy="475488"/>
          </a:xfrm>
          <a:prstGeom prst="rect">
            <a:avLst/>
          </a:prstGeom>
          <a:solidFill>
            <a:srgbClr val="FFF3CD"/>
          </a:solidFill>
          <a:ln w="10160">
            <a:solidFill>
              <a:srgbClr val="F6C90E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263640" y="4100500"/>
            <a:ext cx="2788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7D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Recall 62.5%：早期病變 X 光特徵不顯著，為本研究主要改善方向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3356682" y="4307253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— Test Set  (Acc = 89.1%)</a:t>
            </a:r>
            <a:endParaRPr lang="en-US" sz="1200" dirty="0"/>
          </a:p>
        </p:txBody>
      </p:sp>
      <p:sp>
        <p:nvSpPr>
          <p:cNvPr id="135" name="Shape 133"/>
          <p:cNvSpPr/>
          <p:nvPr/>
        </p:nvSpPr>
        <p:spPr>
          <a:xfrm>
            <a:off x="320040" y="4586327"/>
            <a:ext cx="5852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6" name="Text 134"/>
          <p:cNvSpPr/>
          <p:nvPr/>
        </p:nvSpPr>
        <p:spPr>
          <a:xfrm>
            <a:off x="411480" y="4586327"/>
            <a:ext cx="33216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set: Acc = 95.1%  |  Macro F1 = 94.5%  (n=41)</a:t>
            </a:r>
            <a:endParaRPr lang="en-US" sz="1100" dirty="0"/>
          </a:p>
        </p:txBody>
      </p:sp>
      <p:pic>
        <p:nvPicPr>
          <p:cNvPr id="140" name="圖片 139">
            <a:extLst>
              <a:ext uri="{FF2B5EF4-FFF2-40B4-BE49-F238E27FC236}">
                <a16:creationId xmlns:a16="http://schemas.microsoft.com/office/drawing/2014/main" id="{BA6DAFDF-52AB-FE44-E207-C5CA6086A1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6681" y="2020824"/>
            <a:ext cx="2250000" cy="2287369"/>
          </a:xfrm>
          <a:prstGeom prst="rect">
            <a:avLst/>
          </a:prstGeom>
        </p:spPr>
      </p:pic>
      <p:sp>
        <p:nvSpPr>
          <p:cNvPr id="85" name="Text 134">
            <a:extLst>
              <a:ext uri="{FF2B5EF4-FFF2-40B4-BE49-F238E27FC236}">
                <a16:creationId xmlns:a16="http://schemas.microsoft.com/office/drawing/2014/main" id="{46E0251F-483D-B44C-869D-9AAF5D4E8100}"/>
              </a:ext>
            </a:extLst>
          </p:cNvPr>
          <p:cNvSpPr/>
          <p:nvPr/>
        </p:nvSpPr>
        <p:spPr>
          <a:xfrm>
            <a:off x="3307773" y="4592269"/>
            <a:ext cx="33216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set: Acc = 89.1%  |  Macro F1 = 87.7%  (n=46)</a:t>
            </a:r>
            <a:endParaRPr lang="en-US" sz="1100" dirty="0"/>
          </a:p>
        </p:txBody>
      </p:sp>
      <p:pic>
        <p:nvPicPr>
          <p:cNvPr id="88" name="圖片 87">
            <a:extLst>
              <a:ext uri="{FF2B5EF4-FFF2-40B4-BE49-F238E27FC236}">
                <a16:creationId xmlns:a16="http://schemas.microsoft.com/office/drawing/2014/main" id="{C6C4D15D-6FAD-7A02-BC09-B8A02F8610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230" y="2053157"/>
            <a:ext cx="2249261" cy="2285087"/>
          </a:xfrm>
          <a:prstGeom prst="rect">
            <a:avLst/>
          </a:prstGeom>
        </p:spPr>
      </p:pic>
      <p:sp>
        <p:nvSpPr>
          <p:cNvPr id="89" name="Text 82">
            <a:extLst>
              <a:ext uri="{FF2B5EF4-FFF2-40B4-BE49-F238E27FC236}">
                <a16:creationId xmlns:a16="http://schemas.microsoft.com/office/drawing/2014/main" id="{0A0FA920-A048-F16B-26DA-4BA0D9F18B6F}"/>
              </a:ext>
            </a:extLst>
          </p:cNvPr>
          <p:cNvSpPr/>
          <p:nvPr/>
        </p:nvSpPr>
        <p:spPr>
          <a:xfrm>
            <a:off x="316230" y="433824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— </a:t>
            </a:r>
            <a:r>
              <a:rPr lang="en-US" altLang="zh-TW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</a:t>
            </a: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  (Acc = 95.1%%)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72200" y="2027643"/>
            <a:ext cx="685800" cy="264107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TW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zh-TW" altLang="en-US" sz="1000" b="1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應用系統展示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5212080" cy="4206240"/>
          </a:xfrm>
          <a:prstGeom prst="rect">
            <a:avLst/>
          </a:prstGeom>
          <a:solidFill>
            <a:srgbClr val="E8F4F8"/>
          </a:solidFill>
          <a:ln w="19050">
            <a:solidFill>
              <a:srgbClr val="CADCF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658368"/>
            <a:ext cx="52120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0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</a:t>
            </a:r>
            <a:endParaRPr lang="en-US" sz="1800" dirty="0"/>
          </a:p>
          <a:p>
            <a:pPr marL="0" indent="0" algn="ctr">
              <a:buNone/>
            </a:pP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90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Flask Web App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90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截圖或 Demo GIF ]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715000" y="658368"/>
            <a:ext cx="3063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715000" y="658368"/>
            <a:ext cx="658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373368" y="658368"/>
            <a:ext cx="27432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73952" y="70408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影像上傳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73952" y="93268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支援 JPEG/PNG 髖關節 X 光上傳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715000" y="1481328"/>
            <a:ext cx="3063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715000" y="1481328"/>
            <a:ext cx="658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373368" y="1481328"/>
            <a:ext cx="27432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3952" y="152704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 ROI 偵測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73952" y="175564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即時定位股骨頭區域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715000" y="2304288"/>
            <a:ext cx="3063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715000" y="2304288"/>
            <a:ext cx="658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373368" y="2304288"/>
            <a:ext cx="27432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73952" y="235000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</a:t>
            </a:r>
            <a:r>
              <a:rPr lang="zh-TW" alt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級</a:t>
            </a:r>
            <a:r>
              <a:rPr lang="en-US" sz="1300" b="1" dirty="0" err="1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預測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73952" y="257860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顯示 Ficat Stage 與各類別機率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715000" y="3127248"/>
            <a:ext cx="3063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715000" y="3127248"/>
            <a:ext cx="658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🌡️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373368" y="3127248"/>
            <a:ext cx="27432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317296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視覺化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73952" y="340156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熱力圖疊加原始影像輸出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715000" y="3950208"/>
            <a:ext cx="30632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715000" y="3950208"/>
            <a:ext cx="6583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6373368" y="3950208"/>
            <a:ext cx="27432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73952" y="3995928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結果報告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73952" y="422452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altLang="zh-TW" sz="110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分析報告</a:t>
            </a:r>
            <a:r>
              <a:rPr lang="zh-TW" alt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呈現</a:t>
            </a:r>
            <a:endParaRPr lang="en-US" altLang="zh-TW" sz="1100" dirty="0"/>
          </a:p>
        </p:txBody>
      </p:sp>
      <p:pic>
        <p:nvPicPr>
          <p:cNvPr id="33" name="圖片 32">
            <a:extLst>
              <a:ext uri="{FF2B5EF4-FFF2-40B4-BE49-F238E27FC236}">
                <a16:creationId xmlns:a16="http://schemas.microsoft.com/office/drawing/2014/main" id="{F45E936E-0E3A-8A4A-6B9B-FACF29E165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658368"/>
            <a:ext cx="2778105" cy="2700417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8BFCEA54-ABFF-D83A-6035-6035591214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0427" y="2428875"/>
            <a:ext cx="2839569" cy="243573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vBg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zh-TW" altLang="en-US" dirty="0"/>
          </a:p>
        </p:txBody>
      </p:sp>
      <p:sp>
        <p:nvSpPr>
          <p:cNvPr id="3" name="Title"/>
          <p:cNvSpPr/>
          <p:nvPr/>
        </p:nvSpPr>
        <p:spPr>
          <a:xfrm>
            <a:off x="365760" y="0"/>
            <a:ext cx="7132320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zh-TW" sz="1600" b="1" dirty="0">
                <a:solidFill>
                  <a:srgbClr val="FFFFFF"/>
                </a:solidFill>
              </a:rPr>
              <a:t>推論技術細節：影像方向處理與最終機率計算</a:t>
            </a:r>
          </a:p>
        </p:txBody>
      </p:sp>
      <p:sp>
        <p:nvSpPr>
          <p:cNvPr id="4" name="SlideNum"/>
          <p:cNvSpPr/>
          <p:nvPr/>
        </p:nvSpPr>
        <p:spPr>
          <a:xfrm>
            <a:off x="8503920" y="0"/>
            <a:ext cx="548640" cy="5029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r">
              <a:buNone/>
            </a:pPr>
            <a:endParaRPr lang="zh-TW" sz="1400" b="1" dirty="0">
              <a:solidFill>
                <a:srgbClr val="02C39A"/>
              </a:solidFill>
            </a:endParaRPr>
          </a:p>
        </p:txBody>
      </p:sp>
      <p:sp>
        <p:nvSpPr>
          <p:cNvPr id="5" name="LHeader"/>
          <p:cNvSpPr/>
          <p:nvPr/>
        </p:nvSpPr>
        <p:spPr>
          <a:xfrm>
            <a:off x="228600" y="640080"/>
            <a:ext cx="502920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zh-TW" sz="1300" b="1" dirty="0">
                <a:solidFill>
                  <a:srgbClr val="065A82"/>
                </a:solidFill>
              </a:rPr>
              <a:t>推論方向統一處理</a:t>
            </a:r>
          </a:p>
        </p:txBody>
      </p:sp>
      <p:sp>
        <p:nvSpPr>
          <p:cNvPr id="6" name="LCard_bg"/>
          <p:cNvSpPr/>
          <p:nvPr/>
        </p:nvSpPr>
        <p:spPr>
          <a:xfrm>
            <a:off x="228600" y="960120"/>
            <a:ext cx="5029200" cy="1325880"/>
          </a:xfrm>
          <a:prstGeom prst="rect">
            <a:avLst/>
          </a:prstGeom>
          <a:solidFill>
            <a:srgbClr val="E8F2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LBadge"/>
          <p:cNvSpPr/>
          <p:nvPr/>
        </p:nvSpPr>
        <p:spPr>
          <a:xfrm>
            <a:off x="228600" y="960120"/>
            <a:ext cx="438912" cy="13258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LBadgeTxt"/>
          <p:cNvSpPr/>
          <p:nvPr/>
        </p:nvSpPr>
        <p:spPr>
          <a:xfrm>
            <a:off x="228600" y="960120"/>
            <a:ext cx="438912" cy="13258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zh-TW" sz="1700" b="1" dirty="0">
                <a:solidFill>
                  <a:srgbClr val="FFFFFF"/>
                </a:solidFill>
              </a:rPr>
              <a:t>L</a:t>
            </a:r>
          </a:p>
        </p:txBody>
      </p:sp>
      <p:sp>
        <p:nvSpPr>
          <p:cNvPr id="9" name="LContent"/>
          <p:cNvSpPr/>
          <p:nvPr/>
        </p:nvSpPr>
        <p:spPr>
          <a:xfrm>
            <a:off x="740664" y="1033272"/>
            <a:ext cx="4453128" cy="117957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zh-TW" sz="1150" b="1" dirty="0">
                <a:solidFill>
                  <a:srgbClr val="065A82"/>
                </a:solidFill>
              </a:rPr>
              <a:t>左側 (L) 影像：直接推論</a:t>
            </a:r>
          </a:p>
          <a:p>
            <a:pPr marL="0" indent="0" algn="l">
              <a:buNone/>
            </a:pPr>
            <a:r>
              <a:rPr lang="zh-TW" sz="980" b="0" dirty="0">
                <a:solidFill>
                  <a:srgbClr val="1A2A3A"/>
                </a:solidFill>
              </a:rPr>
              <a:t>YOLO 裁出的左側骨頭 ROI → 直接送入 m1, m2, m3 神經網路推論（不做任何翻轉）</a:t>
            </a:r>
          </a:p>
          <a:p>
            <a:pPr marL="0" indent="0" algn="l">
              <a:buNone/>
            </a:pPr>
            <a:r>
              <a:rPr lang="zh-TW" sz="980" b="0" dirty="0">
                <a:solidFill>
                  <a:srgbClr val="1A2A3A"/>
                </a:solidFill>
              </a:rPr>
              <a:t>Grad-CAM 熱力圖自然對齊原始影像，無需後處理</a:t>
            </a:r>
          </a:p>
        </p:txBody>
      </p:sp>
      <p:sp>
        <p:nvSpPr>
          <p:cNvPr id="10" name="RCard_bg"/>
          <p:cNvSpPr/>
          <p:nvPr/>
        </p:nvSpPr>
        <p:spPr>
          <a:xfrm>
            <a:off x="228600" y="2377440"/>
            <a:ext cx="5029200" cy="1783080"/>
          </a:xfrm>
          <a:prstGeom prst="rect">
            <a:avLst/>
          </a:prstGeom>
          <a:solidFill>
            <a:srgbClr val="FFF3E0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1" name="RBadge"/>
          <p:cNvSpPr/>
          <p:nvPr/>
        </p:nvSpPr>
        <p:spPr>
          <a:xfrm>
            <a:off x="228600" y="2377440"/>
            <a:ext cx="438912" cy="17830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2" name="RBadgeTxt"/>
          <p:cNvSpPr/>
          <p:nvPr/>
        </p:nvSpPr>
        <p:spPr>
          <a:xfrm>
            <a:off x="228600" y="2377440"/>
            <a:ext cx="438912" cy="178308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zh-TW" sz="1700" b="1" dirty="0">
                <a:solidFill>
                  <a:srgbClr val="FFFFFF"/>
                </a:solidFill>
              </a:rPr>
              <a:t>R</a:t>
            </a:r>
          </a:p>
        </p:txBody>
      </p:sp>
      <p:sp>
        <p:nvSpPr>
          <p:cNvPr id="13" name="RContent"/>
          <p:cNvSpPr/>
          <p:nvPr/>
        </p:nvSpPr>
        <p:spPr>
          <a:xfrm>
            <a:off x="740664" y="2450592"/>
            <a:ext cx="4453128" cy="1636776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 algn="l">
              <a:buNone/>
            </a:pPr>
            <a:r>
              <a:rPr lang="zh-TW" sz="1150" b="1" dirty="0">
                <a:solidFill>
                  <a:srgbClr val="C0392B"/>
                </a:solidFill>
              </a:rPr>
              <a:t>右側 (R) 影像：推論前後各翻轉一次</a:t>
            </a:r>
          </a:p>
          <a:p>
            <a:pPr marL="0" indent="0" algn="l">
              <a:buNone/>
            </a:pPr>
            <a:r>
              <a:rPr lang="en-US" sz="920" b="0" dirty="0">
                <a:solidFill>
                  <a:srgbClr val="444444"/>
                </a:solidFill>
              </a:rPr>
              <a:t>推論前：cropped_img.transpose(Image.FLIP_LEFT_RIGHT)</a:t>
            </a:r>
          </a:p>
          <a:p>
            <a:pPr marL="0" indent="0" algn="l">
              <a:buNone/>
            </a:pPr>
            <a:r>
              <a:rPr lang="zh-TW" sz="960" b="0" dirty="0">
                <a:solidFill>
                  <a:srgbClr val="1A2A3A"/>
                </a:solidFill>
              </a:rPr>
              <a:t>→ 鏡像成「左側基準」方向，與訓練集一致後送入 m1, m2, m3</a:t>
            </a:r>
          </a:p>
          <a:p>
            <a:pPr marL="0" indent="0" algn="l">
              <a:buNone/>
            </a:pPr>
            <a:r>
              <a:rPr lang="en-US" sz="920" b="0" dirty="0">
                <a:solidFill>
                  <a:srgbClr val="444444"/>
                </a:solidFill>
              </a:rPr>
              <a:t>推論後 (generate_overlay_base64)：np.fliplr(gcam_map)</a:t>
            </a:r>
          </a:p>
          <a:p>
            <a:pPr marL="0" indent="0" algn="l">
              <a:buNone/>
            </a:pPr>
            <a:r>
              <a:rPr lang="zh-TW" sz="960" b="0" dirty="0">
                <a:solidFill>
                  <a:srgbClr val="1A2A3A"/>
                </a:solidFill>
              </a:rPr>
              <a:t>→ 熱力圖鏡像還原，精準疊加回原始右髖裁切影像上</a:t>
            </a:r>
          </a:p>
        </p:txBody>
      </p:sp>
      <p:sp>
        <p:nvSpPr>
          <p:cNvPr id="14" name="SummBg"/>
          <p:cNvSpPr/>
          <p:nvPr/>
        </p:nvSpPr>
        <p:spPr>
          <a:xfrm>
            <a:off x="228600" y="4251960"/>
            <a:ext cx="5029200" cy="43891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SummTxt"/>
          <p:cNvSpPr/>
          <p:nvPr/>
        </p:nvSpPr>
        <p:spPr>
          <a:xfrm>
            <a:off x="365760" y="4251960"/>
            <a:ext cx="4754880" cy="43891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zh-TW" sz="950" b="0" dirty="0">
                <a:solidFill>
                  <a:srgbClr val="FFFFFF"/>
                </a:solidFill>
              </a:rPr>
              <a:t>結論：畫面方向 = 原始 X 光（人眼直覺）；推論空間 = 統一左側基準（最大化準確度）</a:t>
            </a:r>
          </a:p>
        </p:txBody>
      </p:sp>
      <p:sp>
        <p:nvSpPr>
          <p:cNvPr id="16" name="RCHeader"/>
          <p:cNvSpPr/>
          <p:nvPr/>
        </p:nvSpPr>
        <p:spPr>
          <a:xfrm>
            <a:off x="5440680" y="640080"/>
            <a:ext cx="3474720" cy="27432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zh-TW" sz="1300" b="1" dirty="0">
                <a:solidFill>
                  <a:srgbClr val="065A82"/>
                </a:solidFill>
              </a:rPr>
              <a:t>最終機率計算公式</a:t>
            </a:r>
          </a:p>
        </p:txBody>
      </p:sp>
      <p:sp>
        <p:nvSpPr>
          <p:cNvPr id="17" name="ProbBg"/>
          <p:cNvSpPr/>
          <p:nvPr/>
        </p:nvSpPr>
        <p:spPr>
          <a:xfrm>
            <a:off x="5440680" y="960120"/>
            <a:ext cx="3474720" cy="3730752"/>
          </a:xfrm>
          <a:prstGeom prst="rect">
            <a:avLst/>
          </a:prstGeom>
          <a:solidFill>
            <a:srgbClr val="E8EEF3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HierHdr"/>
          <p:cNvSpPr/>
          <p:nvPr/>
        </p:nvSpPr>
        <p:spPr>
          <a:xfrm>
            <a:off x="5550408" y="1051560"/>
            <a:ext cx="3255264" cy="2560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zh-TW" sz="1000" b="1" dirty="0">
                <a:solidFill>
                  <a:srgbClr val="065A82"/>
                </a:solidFill>
              </a:rPr>
              <a:t>階層模型輸出三個機率值：</a:t>
            </a:r>
          </a:p>
        </p:txBody>
      </p:sp>
      <p:sp>
        <p:nvSpPr>
          <p:cNvPr id="19" name="Out0Bg"/>
          <p:cNvSpPr/>
          <p:nvPr/>
        </p:nvSpPr>
        <p:spPr>
          <a:xfrm>
            <a:off x="5550408" y="1344168"/>
            <a:ext cx="3255264" cy="292608"/>
          </a:xfrm>
          <a:prstGeom prst="rect">
            <a:avLst/>
          </a:prstGeom>
          <a:solidFill>
            <a:srgbClr val="E8F2F8"/>
          </a:solidFill>
          <a:ln w="15000">
            <a:solidFill>
              <a:srgbClr val="065A82"/>
            </a:solidFill>
            <a:prstDash val="solid"/>
          </a:ln>
        </p:spPr>
      </p:sp>
      <p:sp>
        <p:nvSpPr>
          <p:cNvPr id="20" name="Out0T"/>
          <p:cNvSpPr/>
          <p:nvPr/>
        </p:nvSpPr>
        <p:spPr>
          <a:xfrm>
            <a:off x="5605272" y="1344168"/>
            <a:ext cx="3145536" cy="29260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065A82"/>
                </a:solidFill>
              </a:rPr>
              <a:t>P(Stage4)  ←  Model 1 輸出</a:t>
            </a:r>
          </a:p>
        </p:txBody>
      </p:sp>
      <p:sp>
        <p:nvSpPr>
          <p:cNvPr id="21" name="Out1Bg"/>
          <p:cNvSpPr/>
          <p:nvPr/>
        </p:nvSpPr>
        <p:spPr>
          <a:xfrm>
            <a:off x="5550408" y="1691640"/>
            <a:ext cx="3255264" cy="292608"/>
          </a:xfrm>
          <a:prstGeom prst="rect">
            <a:avLst/>
          </a:prstGeom>
          <a:solidFill>
            <a:srgbClr val="E8F8F4"/>
          </a:solidFill>
          <a:ln w="15000">
            <a:solidFill>
              <a:srgbClr val="028090"/>
            </a:solidFill>
            <a:prstDash val="solid"/>
          </a:ln>
        </p:spPr>
      </p:sp>
      <p:sp>
        <p:nvSpPr>
          <p:cNvPr id="22" name="Out1T"/>
          <p:cNvSpPr/>
          <p:nvPr/>
        </p:nvSpPr>
        <p:spPr>
          <a:xfrm>
            <a:off x="5605272" y="1691640"/>
            <a:ext cx="3145536" cy="29260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028090"/>
                </a:solidFill>
              </a:rPr>
              <a:t>P(Stage1_nodal)  ←  Model 2 輸出</a:t>
            </a:r>
          </a:p>
        </p:txBody>
      </p:sp>
      <p:sp>
        <p:nvSpPr>
          <p:cNvPr id="23" name="Out2Bg"/>
          <p:cNvSpPr/>
          <p:nvPr/>
        </p:nvSpPr>
        <p:spPr>
          <a:xfrm>
            <a:off x="5550408" y="2039112"/>
            <a:ext cx="3255264" cy="292608"/>
          </a:xfrm>
          <a:prstGeom prst="rect">
            <a:avLst/>
          </a:prstGeom>
          <a:solidFill>
            <a:srgbClr val="F3F0F8"/>
          </a:solidFill>
          <a:ln w="15000">
            <a:solidFill>
              <a:srgbClr val="7B6B8D"/>
            </a:solidFill>
            <a:prstDash val="solid"/>
          </a:ln>
        </p:spPr>
      </p:sp>
      <p:sp>
        <p:nvSpPr>
          <p:cNvPr id="24" name="Out2T"/>
          <p:cNvSpPr/>
          <p:nvPr/>
        </p:nvSpPr>
        <p:spPr>
          <a:xfrm>
            <a:off x="5605272" y="2039112"/>
            <a:ext cx="3145536" cy="292608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7B6B8D"/>
                </a:solidFill>
              </a:rPr>
              <a:t>P(Stage3_nodal)  ←  Model 3 輸出</a:t>
            </a:r>
          </a:p>
        </p:txBody>
      </p:sp>
      <p:sp>
        <p:nvSpPr>
          <p:cNvPr id="25" name="Div"/>
          <p:cNvSpPr/>
          <p:nvPr/>
        </p:nvSpPr>
        <p:spPr>
          <a:xfrm>
            <a:off x="5550408" y="2423160"/>
            <a:ext cx="3255264" cy="3200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FinalHdr"/>
          <p:cNvSpPr/>
          <p:nvPr/>
        </p:nvSpPr>
        <p:spPr>
          <a:xfrm>
            <a:off x="5550408" y="2468880"/>
            <a:ext cx="3255264" cy="2560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zh-TW" sz="1000" b="1" dirty="0">
                <a:solidFill>
                  <a:srgbClr val="065A82"/>
                </a:solidFill>
              </a:rPr>
              <a:t>最終輸出各期機率：</a:t>
            </a:r>
          </a:p>
        </p:txBody>
      </p:sp>
      <p:sp>
        <p:nvSpPr>
          <p:cNvPr id="27" name="F0Bg"/>
          <p:cNvSpPr/>
          <p:nvPr/>
        </p:nvSpPr>
        <p:spPr>
          <a:xfrm>
            <a:off x="5550408" y="2752344"/>
            <a:ext cx="3255264" cy="347472"/>
          </a:xfrm>
          <a:prstGeom prst="rect">
            <a:avLst/>
          </a:prstGeom>
          <a:solidFill>
            <a:srgbClr val="E8F2F8"/>
          </a:solidFill>
          <a:ln w="15000">
            <a:solidFill>
              <a:srgbClr val="065A82"/>
            </a:solidFill>
            <a:prstDash val="solid"/>
          </a:ln>
        </p:spPr>
      </p:sp>
      <p:sp>
        <p:nvSpPr>
          <p:cNvPr id="28" name="F0L"/>
          <p:cNvSpPr/>
          <p:nvPr/>
        </p:nvSpPr>
        <p:spPr>
          <a:xfrm>
            <a:off x="5577840" y="2752344"/>
            <a:ext cx="594360" cy="34747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zh-TW" sz="880" b="1" dirty="0">
                <a:solidFill>
                  <a:srgbClr val="065A82"/>
                </a:solidFill>
              </a:rPr>
              <a:t>Stage 4</a:t>
            </a:r>
          </a:p>
        </p:txBody>
      </p:sp>
      <p:sp>
        <p:nvSpPr>
          <p:cNvPr id="29" name="F0F"/>
          <p:cNvSpPr/>
          <p:nvPr/>
        </p:nvSpPr>
        <p:spPr>
          <a:xfrm>
            <a:off x="6190488" y="2752344"/>
            <a:ext cx="2560320" cy="34747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840" b="0" dirty="0">
                <a:solidFill>
                  <a:srgbClr val="1A2A3A"/>
                </a:solidFill>
              </a:rPr>
              <a:t>P(Stage4)</a:t>
            </a:r>
          </a:p>
        </p:txBody>
      </p:sp>
      <p:sp>
        <p:nvSpPr>
          <p:cNvPr id="30" name="F1Bg"/>
          <p:cNvSpPr/>
          <p:nvPr/>
        </p:nvSpPr>
        <p:spPr>
          <a:xfrm>
            <a:off x="5550408" y="3154680"/>
            <a:ext cx="3255264" cy="347472"/>
          </a:xfrm>
          <a:prstGeom prst="rect">
            <a:avLst/>
          </a:prstGeom>
          <a:solidFill>
            <a:srgbClr val="E8F8F4"/>
          </a:solidFill>
          <a:ln w="15000">
            <a:solidFill>
              <a:srgbClr val="028090"/>
            </a:solidFill>
            <a:prstDash val="solid"/>
          </a:ln>
        </p:spPr>
      </p:sp>
      <p:sp>
        <p:nvSpPr>
          <p:cNvPr id="31" name="F1L"/>
          <p:cNvSpPr/>
          <p:nvPr/>
        </p:nvSpPr>
        <p:spPr>
          <a:xfrm>
            <a:off x="5577840" y="3154680"/>
            <a:ext cx="594360" cy="34747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zh-TW" sz="880" b="1" dirty="0">
                <a:solidFill>
                  <a:srgbClr val="028090"/>
                </a:solidFill>
              </a:rPr>
              <a:t>Stage 1</a:t>
            </a:r>
          </a:p>
        </p:txBody>
      </p:sp>
      <p:sp>
        <p:nvSpPr>
          <p:cNvPr id="32" name="F1F"/>
          <p:cNvSpPr/>
          <p:nvPr/>
        </p:nvSpPr>
        <p:spPr>
          <a:xfrm>
            <a:off x="6190488" y="3154680"/>
            <a:ext cx="2560320" cy="34747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840" b="0" dirty="0">
                <a:solidFill>
                  <a:srgbClr val="1A2A3A"/>
                </a:solidFill>
              </a:rPr>
              <a:t>P(Not_4) × P(Stage1_nodal)</a:t>
            </a:r>
          </a:p>
        </p:txBody>
      </p:sp>
      <p:sp>
        <p:nvSpPr>
          <p:cNvPr id="33" name="F2Bg"/>
          <p:cNvSpPr/>
          <p:nvPr/>
        </p:nvSpPr>
        <p:spPr>
          <a:xfrm>
            <a:off x="5550408" y="3557016"/>
            <a:ext cx="3255264" cy="347472"/>
          </a:xfrm>
          <a:prstGeom prst="rect">
            <a:avLst/>
          </a:prstGeom>
          <a:solidFill>
            <a:srgbClr val="F3F0F8"/>
          </a:solidFill>
          <a:ln w="15000">
            <a:solidFill>
              <a:srgbClr val="7B6B8D"/>
            </a:solidFill>
            <a:prstDash val="solid"/>
          </a:ln>
        </p:spPr>
      </p:sp>
      <p:sp>
        <p:nvSpPr>
          <p:cNvPr id="34" name="F2L"/>
          <p:cNvSpPr/>
          <p:nvPr/>
        </p:nvSpPr>
        <p:spPr>
          <a:xfrm>
            <a:off x="5577840" y="3557016"/>
            <a:ext cx="594360" cy="34747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zh-TW" sz="880" b="1" dirty="0">
                <a:solidFill>
                  <a:srgbClr val="7B6B8D"/>
                </a:solidFill>
              </a:rPr>
              <a:t>Stage 3</a:t>
            </a:r>
          </a:p>
        </p:txBody>
      </p:sp>
      <p:sp>
        <p:nvSpPr>
          <p:cNvPr id="35" name="F2F"/>
          <p:cNvSpPr/>
          <p:nvPr/>
        </p:nvSpPr>
        <p:spPr>
          <a:xfrm>
            <a:off x="6190488" y="3557016"/>
            <a:ext cx="2560320" cy="34747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840" b="0" dirty="0">
                <a:solidFill>
                  <a:srgbClr val="1A2A3A"/>
                </a:solidFill>
              </a:rPr>
              <a:t>P(Not_4) × (1−P(Stage1)) × P(Stage3_nodal)</a:t>
            </a:r>
          </a:p>
        </p:txBody>
      </p:sp>
      <p:sp>
        <p:nvSpPr>
          <p:cNvPr id="36" name="F3Bg"/>
          <p:cNvSpPr/>
          <p:nvPr/>
        </p:nvSpPr>
        <p:spPr>
          <a:xfrm>
            <a:off x="5550408" y="3959352"/>
            <a:ext cx="3255264" cy="347472"/>
          </a:xfrm>
          <a:prstGeom prst="rect">
            <a:avLst/>
          </a:prstGeom>
          <a:solidFill>
            <a:srgbClr val="FFF3E0"/>
          </a:solidFill>
          <a:ln w="15000">
            <a:solidFill>
              <a:srgbClr val="B8541E"/>
            </a:solidFill>
            <a:prstDash val="solid"/>
          </a:ln>
        </p:spPr>
      </p:sp>
      <p:sp>
        <p:nvSpPr>
          <p:cNvPr id="37" name="F3L"/>
          <p:cNvSpPr/>
          <p:nvPr/>
        </p:nvSpPr>
        <p:spPr>
          <a:xfrm>
            <a:off x="5577840" y="3959352"/>
            <a:ext cx="594360" cy="34747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zh-TW" sz="880" b="1" dirty="0">
                <a:solidFill>
                  <a:srgbClr val="B8541E"/>
                </a:solidFill>
              </a:rPr>
              <a:t>Stage 2</a:t>
            </a:r>
          </a:p>
        </p:txBody>
      </p:sp>
      <p:sp>
        <p:nvSpPr>
          <p:cNvPr id="38" name="F3F"/>
          <p:cNvSpPr/>
          <p:nvPr/>
        </p:nvSpPr>
        <p:spPr>
          <a:xfrm>
            <a:off x="6190488" y="3959352"/>
            <a:ext cx="2560320" cy="34747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sz="840" b="0" dirty="0">
                <a:solidFill>
                  <a:srgbClr val="1A2A3A"/>
                </a:solidFill>
              </a:rPr>
              <a:t>P(Not_4) × (1−P(Stage1)) × (1−P(Stage3))</a:t>
            </a:r>
          </a:p>
        </p:txBody>
      </p:sp>
      <p:sp>
        <p:nvSpPr>
          <p:cNvPr id="39" name="Text 2">
            <a:extLst>
              <a:ext uri="{FF2B5EF4-FFF2-40B4-BE49-F238E27FC236}">
                <a16:creationId xmlns:a16="http://schemas.microsoft.com/office/drawing/2014/main" id="{C6C15729-1585-61DD-F99A-FD4F501629C1}"/>
              </a:ext>
            </a:extLst>
          </p:cNvPr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討論與研究限制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41148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658368"/>
            <a:ext cx="4114800" cy="411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836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討論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02920" y="1207008"/>
            <a:ext cx="3840480" cy="96012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1207008"/>
            <a:ext cx="54864" cy="9601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124358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策略成效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0080" y="151790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在 Stage 1 </a:t>
            </a:r>
            <a:r>
              <a:rPr lang="en-US" sz="115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偵測顯示優勢</a:t>
            </a: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</a:t>
            </a:r>
            <a:r>
              <a:rPr lang="zh-TW" alt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各取所長能夠彌補單一模型架構的不足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2331720"/>
            <a:ext cx="3840480" cy="960120"/>
          </a:xfrm>
          <a:prstGeom prst="rect">
            <a:avLst/>
          </a:prstGeom>
          <a:solidFill>
            <a:srgbClr val="EDF2F7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2331720"/>
            <a:ext cx="54864" cy="9601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3682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醫學驗證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264261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熱力圖</a:t>
            </a:r>
            <a:r>
              <a:rPr lang="zh-TW" alt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觀察位置</a:t>
            </a: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</a:t>
            </a:r>
            <a:r>
              <a:rPr lang="en-US" sz="1150" dirty="0" err="1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支持模型決策依據的合理性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663440" y="658368"/>
            <a:ext cx="41148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658368"/>
            <a:ext cx="4114800" cy="411480"/>
          </a:xfrm>
          <a:prstGeom prst="rect">
            <a:avLst/>
          </a:prstGeom>
          <a:solidFill>
            <a:srgbClr val="7B341E"/>
          </a:solidFill>
          <a:ln w="12700">
            <a:solidFill>
              <a:srgbClr val="7B341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65836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研究限制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4800600" y="1207008"/>
            <a:ext cx="320040" cy="320040"/>
          </a:xfrm>
          <a:prstGeom prst="ellipse">
            <a:avLst/>
          </a:prstGeom>
          <a:solidFill>
            <a:srgbClr val="7B341E"/>
          </a:solidFill>
          <a:ln w="12700">
            <a:solidFill>
              <a:srgbClr val="7B341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0600" y="12070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12080" y="120700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資料量有限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212080" y="144475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影像數量仍有限，未來需補充更多資料</a:t>
            </a:r>
          </a:p>
        </p:txBody>
      </p:sp>
      <p:sp>
        <p:nvSpPr>
          <p:cNvPr id="27" name="Shape 25"/>
          <p:cNvSpPr/>
          <p:nvPr/>
        </p:nvSpPr>
        <p:spPr>
          <a:xfrm>
            <a:off x="4800600" y="1975104"/>
            <a:ext cx="320040" cy="320040"/>
          </a:xfrm>
          <a:prstGeom prst="ellipse">
            <a:avLst/>
          </a:prstGeom>
          <a:solidFill>
            <a:srgbClr val="7B341E"/>
          </a:solidFill>
          <a:ln w="12700">
            <a:solidFill>
              <a:srgbClr val="7B341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197510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212080" y="197510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TW" altLang="en-US" sz="12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目前沒有訓練健康的資料</a:t>
            </a:r>
          </a:p>
        </p:txBody>
      </p:sp>
      <p:sp>
        <p:nvSpPr>
          <p:cNvPr id="30" name="Text 28"/>
          <p:cNvSpPr/>
          <p:nvPr/>
        </p:nvSpPr>
        <p:spPr>
          <a:xfrm>
            <a:off x="5212080" y="2212848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TW" alt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可以獲取沒有問題的病人的髖關節，可和</a:t>
            </a:r>
            <a:r>
              <a:rPr lang="en-US" altLang="zh-TW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stage1</a:t>
            </a:r>
            <a:r>
              <a:rPr lang="zh-TW" alt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之間進行深度學習，用來發現病人是否有前期的問題</a:t>
            </a:r>
          </a:p>
        </p:txBody>
      </p:sp>
      <p:sp>
        <p:nvSpPr>
          <p:cNvPr id="31" name="Shape 29"/>
          <p:cNvSpPr/>
          <p:nvPr/>
        </p:nvSpPr>
        <p:spPr>
          <a:xfrm>
            <a:off x="4800600" y="2816352"/>
            <a:ext cx="320040" cy="320040"/>
          </a:xfrm>
          <a:prstGeom prst="ellipse">
            <a:avLst/>
          </a:prstGeom>
          <a:solidFill>
            <a:srgbClr val="7B341E"/>
          </a:solidFill>
          <a:ln w="12700">
            <a:solidFill>
              <a:srgbClr val="7B341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28163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212080" y="281635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250" b="1" dirty="0">
                <a:solidFill>
                  <a:srgbClr val="1A2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網站系統優化</a:t>
            </a:r>
          </a:p>
        </p:txBody>
      </p:sp>
      <p:sp>
        <p:nvSpPr>
          <p:cNvPr id="34" name="Text 32"/>
          <p:cNvSpPr/>
          <p:nvPr/>
        </p:nvSpPr>
        <p:spPr>
          <a:xfrm>
            <a:off x="5212080" y="305409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TW" alt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尚不能一次匯入大量圖片，希望一次能匯入數張圖片，更有效率幫助醫生</a:t>
            </a:r>
          </a:p>
        </p:txBody>
      </p:sp>
      <p:sp>
        <p:nvSpPr>
          <p:cNvPr id="36" name="Text 34"/>
          <p:cNvSpPr/>
          <p:nvPr/>
        </p:nvSpPr>
        <p:spPr>
          <a:xfrm>
            <a:off x="4800600" y="3621024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212080" y="362102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zh-TW" altLang="en-US" sz="1250" b="1" dirty="0">
              <a:solidFill>
                <a:srgbClr val="1A202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212080" y="3858768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zh-TW" altLang="en-US" sz="1100" dirty="0">
              <a:solidFill>
                <a:srgbClr val="4A55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結論與研究貢獻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321040" y="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altLang="zh-TW" sz="1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8412480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8368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成功建立一套端對端髖關節 X 光影像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Ficat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分</a:t>
            </a:r>
            <a:r>
              <a:rPr lang="zh-TW" alt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級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系統，涵蓋 ROI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偵測、階層分類、</a:t>
            </a:r>
            <a:r>
              <a:rPr lang="en-US" altLang="zh-TW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r>
              <a:rPr lang="zh-TW" alt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視覺化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分析與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Web 應用整合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2606040" cy="3291840"/>
          </a:xfrm>
          <a:prstGeom prst="rect">
            <a:avLst/>
          </a:prstGeom>
          <a:solidFill>
            <a:srgbClr val="0D2231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57276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65760" y="207568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技術貢獻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24871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YOLOv8 自動 ROI 偵測流程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08152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階層式二元分類策略設計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367588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Stacking Ensemble 提升 Stage 1 準確率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0" y="1508760"/>
            <a:ext cx="2606040" cy="3291840"/>
          </a:xfrm>
          <a:prstGeom prst="rect">
            <a:avLst/>
          </a:prstGeom>
          <a:solidFill>
            <a:srgbClr val="0D2231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200400" y="157276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3200400" y="207568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臨床貢獻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37560" y="24871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Grad-CAM </a:t>
            </a:r>
            <a:r>
              <a:rPr lang="en-US" sz="12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</a:t>
            </a:r>
            <a:r>
              <a:rPr lang="zh-TW" alt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視覺化</a:t>
            </a:r>
            <a:r>
              <a:rPr lang="en-US" sz="12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診斷輔助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37560" y="308152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Web 系統可直接整合至臨床工作流程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337560" y="367588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減少醫師判讀負荷，提高診斷效率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35040" y="1508760"/>
            <a:ext cx="2606040" cy="3291840"/>
          </a:xfrm>
          <a:prstGeom prst="rect">
            <a:avLst/>
          </a:prstGeom>
          <a:solidFill>
            <a:srgbClr val="0D2231"/>
          </a:solidFill>
          <a:ln w="12700">
            <a:solidFill>
              <a:srgbClr val="0280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035040" y="157276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035040" y="2075688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學術貢獻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172200" y="24871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提供髖關節 X 光 </a:t>
            </a:r>
            <a:r>
              <a:rPr lang="en-US" sz="12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Ficat</a:t>
            </a: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分</a:t>
            </a:r>
            <a:r>
              <a:rPr lang="zh-TW" alt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級</a:t>
            </a:r>
            <a:r>
              <a:rPr lang="en-US" sz="12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深度學習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172200" y="308152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t-SNE 分析揭示各期特徵可分離性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2286000"/>
            <a:ext cx="4114800" cy="4114800"/>
          </a:xfrm>
          <a:prstGeom prst="ellipse">
            <a:avLst/>
          </a:prstGeom>
          <a:solidFill>
            <a:srgbClr val="065A82">
              <a:alpha val="30000"/>
            </a:srgbClr>
          </a:solidFill>
          <a:ln w="12700">
            <a:solidFill>
              <a:srgbClr val="065A82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-731520"/>
            <a:ext cx="2743200" cy="2743200"/>
          </a:xfrm>
          <a:prstGeom prst="ellipse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感謝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548640" y="1572768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感謝仁愛醫院骨科合作醫師、指導教授及博士師長的指導與支持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48840"/>
            <a:ext cx="320040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359152"/>
            <a:ext cx="8046720" cy="1188720"/>
          </a:xfrm>
          <a:prstGeom prst="rect">
            <a:avLst/>
          </a:prstGeom>
          <a:solidFill>
            <a:srgbClr val="0D2231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359152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685800" y="295351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歡迎各位老師和醫師提問與指教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373075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github.com/ericadgjl-huang/Renai-Hospital-DL-Project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409651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YOLOv8  ·  DenseNet121  ·  EfficientNet-B0  ·  ResNet50  ·  ConvNeXt  ·  Stacking Ensemble  ·  Grad-CAM  ·  Flask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仁愛醫院 髖關節 </a:t>
            </a:r>
            <a:r>
              <a:rPr lang="en-US" sz="1050" dirty="0" err="1">
                <a:solidFill>
                  <a:srgbClr val="4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Ficat</a:t>
            </a:r>
            <a:r>
              <a:rPr lang="en-US" sz="1050" dirty="0">
                <a:solidFill>
                  <a:srgbClr val="4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分</a:t>
            </a:r>
            <a:r>
              <a:rPr lang="zh-TW" altLang="en-US" sz="1050" dirty="0">
                <a:solidFill>
                  <a:srgbClr val="4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級</a:t>
            </a:r>
            <a:r>
              <a:rPr lang="en-US" sz="1050" dirty="0">
                <a:solidFill>
                  <a:srgbClr val="4A6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Deep Learning Project  ·  2025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1305</TotalTime>
  <Words>1962</Words>
  <Application>Microsoft Office PowerPoint</Application>
  <PresentationFormat>如螢幕大小 (16:9)</PresentationFormat>
  <Paragraphs>406</Paragraphs>
  <Slides>17</Slides>
  <Notes>13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1" baseType="lpstr">
      <vt:lpstr>Arial</vt:lpstr>
      <vt:lpstr>Calibri</vt:lpstr>
      <vt:lpstr>Cambria Math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仁愛醫院 髖關節 X 光影像 Ficat 分期深度學習系統</dc:title>
  <dc:subject>PptxGenJS Presentation</dc:subject>
  <dc:creator>Renai Hospital DL Team</dc:creator>
  <cp:lastModifiedBy>Eric Huang</cp:lastModifiedBy>
  <cp:revision>21</cp:revision>
  <dcterms:created xsi:type="dcterms:W3CDTF">2026-03-25T13:28:55Z</dcterms:created>
  <dcterms:modified xsi:type="dcterms:W3CDTF">2026-03-31T11:09:59Z</dcterms:modified>
</cp:coreProperties>
</file>