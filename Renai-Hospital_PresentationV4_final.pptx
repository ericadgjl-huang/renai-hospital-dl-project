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71" r:id="rId7"/>
    <p:sldId id="262" r:id="rId8"/>
    <p:sldId id="272" r:id="rId9"/>
    <p:sldId id="273" r:id="rId10"/>
    <p:sldId id="263" r:id="rId11"/>
    <p:sldId id="264" r:id="rId12"/>
    <p:sldId id="265" r:id="rId13"/>
    <p:sldId id="266" r:id="rId14"/>
    <p:sldId id="274" r:id="rId15"/>
    <p:sldId id="267" r:id="rId16"/>
    <p:sldId id="268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094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548640"/>
            <a:ext cx="2011680" cy="201168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2926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仁愛醫院骨科 × 深度學習研究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髖關節 X 光影像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Ficat</a:t>
            </a: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分</a:t>
            </a:r>
            <a:r>
              <a:rPr lang="zh-TW" alt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級</a:t>
            </a:r>
            <a:r>
              <a:rPr lang="en-US" sz="3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深度學習系統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X-Ray Ficat Staging — Deep Learning Classification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2004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32004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2004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Text 16"/>
          <p:cNvSpPr/>
          <p:nvPr/>
        </p:nvSpPr>
        <p:spPr>
          <a:xfrm>
            <a:off x="626364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Ficat Classification Stage 1–4  ·  仁愛醫院骨科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研究動機與目標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臨床痛點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耗時費力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人工判讀 X 光影像需要豐富臨床經驗，耗費大量時間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5029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 ROI 偵測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291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YOLOv8 自動從髖關節 X 光中定位並裁切股骨頭區域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17520"/>
            <a:ext cx="5029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017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 Ficat 分期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291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建立階層式深度學習分類模型，自動判斷 Stage 1-4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TW" alt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視覺化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160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Grad-CAM 與 t-SNE 提供視覺化解釋，輔助醫師診斷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8862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886200"/>
            <a:ext cx="5029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臨床整合應用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4160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 Web 系統，實現影像上傳、自動判讀與報告生成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資料集說明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資料來源：仁愛醫院骨科門診 X 光影像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總影像數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髖關節 X 光片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分期類別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039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Ficat Stage 1-4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各分期資料分佈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192024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3101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65760" y="39959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468880" y="292608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926080"/>
            <a:ext cx="19202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33101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2468880" y="39959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572000" y="292608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926080"/>
            <a:ext cx="19202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33101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4572000" y="39959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675120" y="292608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75120" y="2926080"/>
            <a:ext cx="19202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75120" y="33101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6675120" y="39959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百分比由四捨五入取得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系統架構總覽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Binary Classification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" y="1005840"/>
            <a:ext cx="1261872" cy="3291840"/>
          </a:xfrm>
          <a:prstGeom prst="rect">
            <a:avLst/>
          </a:prstGeom>
          <a:solidFill>
            <a:srgbClr val="4A556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3484" y="1005840"/>
            <a:ext cx="1261872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" y="10058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" y="1417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" y="1993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輸入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" y="242316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髖關節正面 X 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05356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42516" y="1005840"/>
            <a:ext cx="1261872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42516" y="1005840"/>
            <a:ext cx="1261872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2516" y="10058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42516" y="1417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42516" y="1993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偵測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2516" y="242316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自動定位股骨頭 ROI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4388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41548" y="1005840"/>
            <a:ext cx="1261872" cy="3291840"/>
          </a:xfrm>
          <a:prstGeom prst="rect">
            <a:avLst/>
          </a:prstGeom>
          <a:solidFill>
            <a:srgbClr val="7B341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1548" y="1005840"/>
            <a:ext cx="1261872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1548" y="10058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1548" y="1417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41548" y="1993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分類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1548" y="242316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 vs. 其他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0342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40580" y="1005840"/>
            <a:ext cx="1261872" cy="3291840"/>
          </a:xfrm>
          <a:prstGeom prst="rect">
            <a:avLst/>
          </a:prstGeom>
          <a:solidFill>
            <a:srgbClr val="276749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0580" y="1005840"/>
            <a:ext cx="1261872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0580" y="10058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0580" y="1417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40580" y="1993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分類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40580" y="242316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輕微 vs. 其他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02452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39612" y="1005840"/>
            <a:ext cx="1261872" cy="3291840"/>
          </a:xfrm>
          <a:prstGeom prst="rect">
            <a:avLst/>
          </a:prstGeom>
          <a:solidFill>
            <a:srgbClr val="7B600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9612" y="1005840"/>
            <a:ext cx="1261872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9612" y="10058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9612" y="1417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039612" y="1993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2/3 分類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9612" y="242316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中期判斷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01484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38644" y="1005840"/>
            <a:ext cx="1261872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38644" y="1005840"/>
            <a:ext cx="1261872" cy="34747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8644" y="10058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38644" y="1417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438644" y="1993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分期結果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38644" y="242316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熱力圖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34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分類邏輯：Model 1 → 若 Stage 4: 直接輸出；否則 Model 2 → 若 Stage 1: 輸出；否則 Model 3 → 判斷 Stage 2 or 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模組一：ROI 偵測  (YOLOv8)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953" y="65836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58368"/>
            <a:ext cx="64008" cy="4206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為何需要 ROI 偵測？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170432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髖關節 X 光包含骨盆、股骨幹等多個結構，直接送入分類模型會引入大量無關背景雜訊。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偵測的三大優勢：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聚焦病灶區域，提升模型準確率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標準化輸入尺寸，降低訓練難度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支援雙側股骨頭自動同步偵測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設定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4096512"/>
            <a:ext cx="3840480" cy="18288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4096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/ YOLOv8s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4279392"/>
            <a:ext cx="38404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2793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偵測目標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42793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髖關節</a:t>
            </a:r>
            <a:r>
              <a:rPr lang="en-US" altLang="zh-TW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lang="zh-TW" alt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zh-TW" alt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不分左右</a:t>
            </a:r>
            <a:r>
              <a:rPr lang="en-US" altLang="zh-TW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altLang="zh-TW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462272"/>
            <a:ext cx="3840480" cy="18288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7" name="Text 15"/>
          <p:cNvSpPr/>
          <p:nvPr/>
        </p:nvSpPr>
        <p:spPr>
          <a:xfrm>
            <a:off x="530352" y="4462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r>
              <a:rPr lang="en-US" altLang="zh-TW" sz="11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</a:t>
            </a:r>
            <a:endParaRPr lang="en-US" altLang="zh-TW" sz="1100" dirty="0"/>
          </a:p>
        </p:txBody>
      </p:sp>
      <p:sp>
        <p:nvSpPr>
          <p:cNvPr id="18" name="Text 16"/>
          <p:cNvSpPr/>
          <p:nvPr/>
        </p:nvSpPr>
        <p:spPr>
          <a:xfrm>
            <a:off x="1901952" y="44622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</a:t>
            </a:r>
            <a:r>
              <a:rPr lang="en-US" altLang="zh-TW" sz="11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裁切</a:t>
            </a:r>
            <a:r>
              <a:rPr lang="en-US" altLang="zh-TW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ROI</a:t>
            </a:r>
            <a:endParaRPr lang="en-US" altLang="zh-TW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645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4645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65836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658368"/>
            <a:ext cx="64008" cy="4206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偵測流程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28032" y="126187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10912" y="1627632"/>
            <a:ext cx="0" cy="256032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2618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輸入原始 X 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1463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完整髖關節影像 (含骨盆)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18836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10912" y="2249424"/>
            <a:ext cx="0" cy="256032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1883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推理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20848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輸出雙側股骨頭 Bounding Box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28032" y="250545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10912" y="2871216"/>
            <a:ext cx="0" cy="256032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2505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信心度過濾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21808" y="27066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conf ≥ 0.5 的偵測框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28032" y="3127248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10912" y="3493008"/>
            <a:ext cx="0" cy="256032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1808" y="31272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裁切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21808" y="33284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裁切並 resize 至</a:t>
            </a:r>
            <a:r>
              <a:rPr lang="en-US" altLang="zh-TW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384×384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28032" y="37490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21808" y="3749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送入分類模型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21808" y="39502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 ROI 作為分類輸入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Bg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800" b="1" dirty="0">
                <a:solidFill>
                  <a:srgbClr val="FFFFFF"/>
                </a:solidFill>
                <a:latin typeface="Calibri" pitchFamily="34" charset="0"/>
              </a:rPr>
              <a:t>前處理：影像統一翻轉至同側</a:t>
            </a:r>
          </a:p>
        </p:txBody>
      </p:sp>
      <p:sp>
        <p:nvSpPr>
          <p:cNvPr id="4" name="SlideNum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zh-TW" altLang="en-US" sz="1600" dirty="0">
              <a:solidFill>
                <a:srgbClr val="02C39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" name="Card"/>
          <p:cNvSpPr/>
          <p:nvPr/>
        </p:nvSpPr>
        <p:spPr>
          <a:xfrm>
            <a:off x="320040" y="640080"/>
            <a:ext cx="41605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320040" y="640080"/>
            <a:ext cx="64008" cy="43159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CardTitle"/>
          <p:cNvSpPr/>
          <p:nvPr/>
        </p:nvSpPr>
        <p:spPr>
          <a:xfrm>
            <a:off x="484632" y="713231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500" b="1" dirty="0">
                <a:solidFill>
                  <a:srgbClr val="065A82"/>
                </a:solidFill>
                <a:latin typeface="Calibri" pitchFamily="34" charset="0"/>
              </a:rPr>
              <a:t>為何需要統一翻轉？</a:t>
            </a:r>
          </a:p>
        </p:txBody>
      </p:sp>
      <p:sp>
        <p:nvSpPr>
          <p:cNvPr id="8" name="LeftBody"/>
          <p:cNvSpPr/>
          <p:nvPr/>
        </p:nvSpPr>
        <p:spPr>
          <a:xfrm>
            <a:off x="475488" y="1078992"/>
            <a:ext cx="3886200" cy="3749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  <a:latin typeface="Calibri" pitchFamily="34" charset="0"/>
              </a:rPr>
              <a:t>問題背景</a:t>
            </a:r>
          </a:p>
          <a:p>
            <a:pPr marL="0" indent="0" algn="l">
              <a:buNone/>
            </a:pPr>
            <a:endParaRPr lang="zh-TW" sz="1300" b="1" dirty="0">
              <a:solidFill>
                <a:srgbClr val="065A82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200" b="0" dirty="0">
                <a:solidFill>
                  <a:srgbClr val="1A202C"/>
                </a:solidFill>
                <a:latin typeface="Calibri" pitchFamily="34" charset="0"/>
              </a:rPr>
              <a:t>髖關節 X 光同時涵蓋左右兩側股骨頭。YOLOv8 裁切後，左側 ROI 與右側 ROI 呈鏡像關係。</a:t>
            </a:r>
          </a:p>
          <a:p>
            <a:pPr marL="0" indent="0" algn="l">
              <a:buNone/>
            </a:pPr>
            <a:endParaRPr lang="zh-TW" sz="1200" b="0" dirty="0">
              <a:solidFill>
                <a:srgbClr val="1A202C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  <a:latin typeface="Calibri" pitchFamily="34" charset="0"/>
              </a:rPr>
              <a:t>影響訓練的原因</a:t>
            </a:r>
          </a:p>
          <a:p>
            <a:pPr marL="0" indent="0" algn="l">
              <a:buNone/>
            </a:pPr>
            <a:endParaRPr lang="zh-TW" sz="1300" b="1" dirty="0">
              <a:solidFill>
                <a:srgbClr val="065A82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200" b="0" dirty="0">
                <a:solidFill>
                  <a:srgbClr val="1A202C"/>
                </a:solidFill>
                <a:latin typeface="Calibri" pitchFamily="34" charset="0"/>
              </a:rPr>
              <a:t>若不統一方向，模型需同時學習兩種對稱的特徵表示，等於增加學習複雜度。</a:t>
            </a:r>
          </a:p>
          <a:p>
            <a:pPr marL="0" indent="0" algn="l">
              <a:buNone/>
            </a:pPr>
            <a:endParaRPr lang="zh-TW" sz="1200" b="0" dirty="0">
              <a:solidFill>
                <a:srgbClr val="1A202C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200" b="0" dirty="0">
                <a:solidFill>
                  <a:srgbClr val="1A202C"/>
                </a:solidFill>
                <a:latin typeface="Calibri" pitchFamily="34" charset="0"/>
              </a:rPr>
              <a:t>在小資料集（287 張）的情境下，這種不一致性對模型收斂影響更顯著，容易造成訓練不穩定。</a:t>
            </a:r>
          </a:p>
        </p:txBody>
      </p:sp>
      <p:sp>
        <p:nvSpPr>
          <p:cNvPr id="9" name="Card"/>
          <p:cNvSpPr/>
          <p:nvPr/>
        </p:nvSpPr>
        <p:spPr>
          <a:xfrm>
            <a:off x="4663440" y="640080"/>
            <a:ext cx="41605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663440" y="640080"/>
            <a:ext cx="64008" cy="4315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CardTitle"/>
          <p:cNvSpPr/>
          <p:nvPr/>
        </p:nvSpPr>
        <p:spPr>
          <a:xfrm>
            <a:off x="4828031" y="713231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500" b="1" dirty="0">
                <a:solidFill>
                  <a:srgbClr val="028090"/>
                </a:solidFill>
                <a:latin typeface="Calibri" pitchFamily="34" charset="0"/>
              </a:rPr>
              <a:t>如何翻轉？</a:t>
            </a:r>
          </a:p>
        </p:txBody>
      </p:sp>
      <p:sp>
        <p:nvSpPr>
          <p:cNvPr id="12" name="Step0"/>
          <p:cNvSpPr/>
          <p:nvPr/>
        </p:nvSpPr>
        <p:spPr>
          <a:xfrm>
            <a:off x="4828032" y="1078992"/>
            <a:ext cx="384048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Num0"/>
          <p:cNvSpPr/>
          <p:nvPr/>
        </p:nvSpPr>
        <p:spPr>
          <a:xfrm>
            <a:off x="4828032" y="10789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" name="StepTitle0"/>
          <p:cNvSpPr/>
          <p:nvPr/>
        </p:nvSpPr>
        <p:spPr>
          <a:xfrm>
            <a:off x="5321808" y="1078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1A202C"/>
                </a:solidFill>
                <a:latin typeface="Calibri" pitchFamily="34" charset="0"/>
              </a:rPr>
              <a:t>判斷 ROI 位置</a:t>
            </a:r>
          </a:p>
        </p:txBody>
      </p:sp>
      <p:sp>
        <p:nvSpPr>
          <p:cNvPr id="15" name="StepDesc0"/>
          <p:cNvSpPr/>
          <p:nvPr/>
        </p:nvSpPr>
        <p:spPr>
          <a:xfrm>
            <a:off x="5321808" y="138074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100" b="0" dirty="0">
                <a:solidFill>
                  <a:srgbClr val="4A5568"/>
                </a:solidFill>
                <a:latin typeface="Calibri" pitchFamily="34" charset="0"/>
              </a:rPr>
              <a:t>依 Bounding Box 中心 x 座標判斷：中心偏左 → 左側；中心偏右 → 右側</a:t>
            </a:r>
          </a:p>
        </p:txBody>
      </p:sp>
      <p:sp>
        <p:nvSpPr>
          <p:cNvPr id="16" name="Step1"/>
          <p:cNvSpPr/>
          <p:nvPr/>
        </p:nvSpPr>
        <p:spPr>
          <a:xfrm>
            <a:off x="4828032" y="2039112"/>
            <a:ext cx="38404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Num1"/>
          <p:cNvSpPr/>
          <p:nvPr/>
        </p:nvSpPr>
        <p:spPr>
          <a:xfrm>
            <a:off x="4828032" y="203911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8" name="StepTitle1"/>
          <p:cNvSpPr/>
          <p:nvPr/>
        </p:nvSpPr>
        <p:spPr>
          <a:xfrm>
            <a:off x="5321808" y="20391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1A202C"/>
                </a:solidFill>
                <a:latin typeface="Calibri" pitchFamily="34" charset="0"/>
              </a:rPr>
              <a:t>右側：保持原樣</a:t>
            </a:r>
          </a:p>
        </p:txBody>
      </p:sp>
      <p:sp>
        <p:nvSpPr>
          <p:cNvPr id="19" name="StepDesc1"/>
          <p:cNvSpPr/>
          <p:nvPr/>
        </p:nvSpPr>
        <p:spPr>
          <a:xfrm>
            <a:off x="5321808" y="23408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100" b="0" dirty="0">
                <a:solidFill>
                  <a:srgbClr val="4A5568"/>
                </a:solidFill>
                <a:latin typeface="Calibri" pitchFamily="34" charset="0"/>
              </a:rPr>
              <a:t>右側股骨頭 ROI 直接作為分類器輸入，不做處理</a:t>
            </a:r>
          </a:p>
        </p:txBody>
      </p:sp>
      <p:sp>
        <p:nvSpPr>
          <p:cNvPr id="20" name="Step2"/>
          <p:cNvSpPr/>
          <p:nvPr/>
        </p:nvSpPr>
        <p:spPr>
          <a:xfrm>
            <a:off x="4828032" y="2999232"/>
            <a:ext cx="38404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Num2"/>
          <p:cNvSpPr/>
          <p:nvPr/>
        </p:nvSpPr>
        <p:spPr>
          <a:xfrm>
            <a:off x="4828032" y="299923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2" name="StepTitle2"/>
          <p:cNvSpPr/>
          <p:nvPr/>
        </p:nvSpPr>
        <p:spPr>
          <a:xfrm>
            <a:off x="5321808" y="29992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1A202C"/>
                </a:solidFill>
                <a:latin typeface="Calibri" pitchFamily="34" charset="0"/>
              </a:rPr>
              <a:t>左側：水平翻轉</a:t>
            </a:r>
          </a:p>
        </p:txBody>
      </p:sp>
      <p:sp>
        <p:nvSpPr>
          <p:cNvPr id="23" name="StepDesc2"/>
          <p:cNvSpPr/>
          <p:nvPr/>
        </p:nvSpPr>
        <p:spPr>
          <a:xfrm>
            <a:off x="5321808" y="33009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100" b="0" dirty="0">
                <a:solidFill>
                  <a:srgbClr val="4A5568"/>
                </a:solidFill>
                <a:latin typeface="Calibri" pitchFamily="34" charset="0"/>
              </a:rPr>
              <a:t>對左側 ROI 進行 Horizontal Flip，使其外觀與右側一致</a:t>
            </a:r>
          </a:p>
        </p:txBody>
      </p:sp>
      <p:sp>
        <p:nvSpPr>
          <p:cNvPr id="24" name="Step3"/>
          <p:cNvSpPr/>
          <p:nvPr/>
        </p:nvSpPr>
        <p:spPr>
          <a:xfrm>
            <a:off x="4828032" y="3959352"/>
            <a:ext cx="38404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Num3"/>
          <p:cNvSpPr/>
          <p:nvPr/>
        </p:nvSpPr>
        <p:spPr>
          <a:xfrm>
            <a:off x="4828032" y="395935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6" name="StepTitle3"/>
          <p:cNvSpPr/>
          <p:nvPr/>
        </p:nvSpPr>
        <p:spPr>
          <a:xfrm>
            <a:off x="5321808" y="39593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1A202C"/>
                </a:solidFill>
                <a:latin typeface="Calibri" pitchFamily="34" charset="0"/>
              </a:rPr>
              <a:t>統一輸入朝向</a:t>
            </a:r>
          </a:p>
        </p:txBody>
      </p:sp>
      <p:sp>
        <p:nvSpPr>
          <p:cNvPr id="27" name="StepDesc3"/>
          <p:cNvSpPr/>
          <p:nvPr/>
        </p:nvSpPr>
        <p:spPr>
          <a:xfrm>
            <a:off x="5321808" y="426110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100" b="0" dirty="0">
                <a:solidFill>
                  <a:srgbClr val="4A5568"/>
                </a:solidFill>
                <a:latin typeface="Calibri" pitchFamily="34" charset="0"/>
              </a:rPr>
              <a:t>所有影像統一為同一朝向後，送入分類模型訓練</a:t>
            </a:r>
          </a:p>
        </p:txBody>
      </p:sp>
      <p:sp>
        <p:nvSpPr>
          <p:cNvPr id="28" name="NoteBox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9" name="NoteText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050" b="0" dirty="0">
                <a:solidFill>
                  <a:srgbClr val="065A82"/>
                </a:solidFill>
                <a:latin typeface="Calibri" pitchFamily="34" charset="0"/>
              </a:rPr>
              <a:t>訓練效果：統一朝向後模型只需學習一種特徵方向，等效提升資料一致性，在小樣本情境下可顯著穩定訓練過程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模組二：階層式二元分類策略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58368"/>
            <a:ext cx="6400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704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設計理念：為何採用階層式二元分類而非直接四元分類？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978408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直接四類分類在 Stage 2/3 </a:t>
            </a:r>
            <a:r>
              <a:rPr lang="zh-TW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</a:t>
            </a:r>
            <a:r>
              <a:rPr lang="en-US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表現差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zh-TW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在測試集的表現也不太理想，</a:t>
            </a:r>
            <a:r>
              <a:rPr lang="en-US" altLang="zh-TW" sz="12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準確率</a:t>
            </a:r>
            <a:r>
              <a:rPr lang="zh-TW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一直在</a:t>
            </a:r>
            <a:r>
              <a:rPr lang="en-US" altLang="zh-TW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r>
              <a:rPr lang="zh-TW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左右，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 Stage 4（嚴重）與 Stage 1（</a:t>
            </a:r>
            <a:r>
              <a:rPr lang="zh-TW" alt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輕微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）具有最強的特徵差異性，先分離極端情況再細分中間期別可顯著提升整體準確率。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64208"/>
            <a:ext cx="219456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6642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輸入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2336292"/>
            <a:ext cx="2194560" cy="475488"/>
          </a:xfrm>
          <a:prstGeom prst="rect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33629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vs. Others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59" y="3035300"/>
            <a:ext cx="237744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14" name="Text 12"/>
          <p:cNvSpPr/>
          <p:nvPr/>
        </p:nvSpPr>
        <p:spPr>
          <a:xfrm>
            <a:off x="365759" y="30353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Stage 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0" y="3034031"/>
            <a:ext cx="2194560" cy="47548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3034031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vs. Others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3706115"/>
            <a:ext cx="237744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706115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Stage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3706115"/>
            <a:ext cx="2194560" cy="475488"/>
          </a:xfrm>
          <a:prstGeom prst="rect">
            <a:avLst/>
          </a:prstGeom>
          <a:solidFill>
            <a:srgbClr val="7B6002"/>
          </a:solidFill>
          <a:ln w="12700">
            <a:solidFill>
              <a:srgbClr val="7B600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706115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vs. Stage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282194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非Stage4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23322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是Stage4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3520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非Stage1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302992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是Stage1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4538727"/>
            <a:ext cx="137160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26" name="Text 24"/>
          <p:cNvSpPr/>
          <p:nvPr/>
        </p:nvSpPr>
        <p:spPr>
          <a:xfrm>
            <a:off x="2103120" y="4538727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Stage 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71185" y="4538727"/>
            <a:ext cx="13716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71185" y="4538727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Stage 3</a:t>
            </a:r>
            <a:endParaRPr lang="en-US" sz="1150" dirty="0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C73AD7EC-30C5-2BC5-C991-C188DAC10A11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4572000" y="2139696"/>
            <a:ext cx="0" cy="1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7236E6BA-09F0-229B-6B12-504D2115160B}"/>
              </a:ext>
            </a:extLst>
          </p:cNvPr>
          <p:cNvCxnSpPr>
            <a:stCxn id="11" idx="1"/>
            <a:endCxn id="13" idx="0"/>
          </p:cNvCxnSpPr>
          <p:nvPr/>
        </p:nvCxnSpPr>
        <p:spPr>
          <a:xfrm rot="10800000" flipV="1">
            <a:off x="1554480" y="2574036"/>
            <a:ext cx="1920241" cy="4612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175A0B03-DFBA-3EC0-331D-34E20A9711D8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4572000" y="2811780"/>
            <a:ext cx="0" cy="222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6AC5C41B-A01C-C720-CCAD-0A1F875988A4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4572000" y="3509519"/>
            <a:ext cx="0" cy="1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3DE5892B-D85D-7B4B-D464-1CEC62F9EE17}"/>
              </a:ext>
            </a:extLst>
          </p:cNvPr>
          <p:cNvCxnSpPr>
            <a:stCxn id="16" idx="3"/>
            <a:endCxn id="17" idx="0"/>
          </p:cNvCxnSpPr>
          <p:nvPr/>
        </p:nvCxnSpPr>
        <p:spPr>
          <a:xfrm>
            <a:off x="5669280" y="3271775"/>
            <a:ext cx="2011680" cy="4343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77E31F50-590C-581B-A563-7C19EBBC3691}"/>
              </a:ext>
            </a:extLst>
          </p:cNvPr>
          <p:cNvCxnSpPr>
            <a:stCxn id="19" idx="2"/>
            <a:endCxn id="25" idx="0"/>
          </p:cNvCxnSpPr>
          <p:nvPr/>
        </p:nvCxnSpPr>
        <p:spPr>
          <a:xfrm rot="5400000">
            <a:off x="3501898" y="3468625"/>
            <a:ext cx="357124" cy="17830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E64F3F0D-0449-DEC2-CA44-ED0C8B584073}"/>
              </a:ext>
            </a:extLst>
          </p:cNvPr>
          <p:cNvCxnSpPr>
            <a:stCxn id="19" idx="2"/>
            <a:endCxn id="28" idx="0"/>
          </p:cNvCxnSpPr>
          <p:nvPr/>
        </p:nvCxnSpPr>
        <p:spPr>
          <a:xfrm rot="16200000" flipH="1">
            <a:off x="5285930" y="3467672"/>
            <a:ext cx="357124" cy="17849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Bg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800" b="1" dirty="0">
                <a:solidFill>
                  <a:srgbClr val="FFFFFF"/>
                </a:solidFill>
                <a:latin typeface="Calibri" pitchFamily="34" charset="0"/>
              </a:rPr>
              <a:t>模型選擇策略：以驗證集 Macro F1 為指標</a:t>
            </a:r>
          </a:p>
        </p:txBody>
      </p:sp>
      <p:sp>
        <p:nvSpPr>
          <p:cNvPr id="4" name="SlideNum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</a:p>
        </p:txBody>
      </p:sp>
      <p:sp>
        <p:nvSpPr>
          <p:cNvPr id="5" name="Card"/>
          <p:cNvSpPr/>
          <p:nvPr/>
        </p:nvSpPr>
        <p:spPr>
          <a:xfrm>
            <a:off x="320040" y="640080"/>
            <a:ext cx="41605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320040" y="640080"/>
            <a:ext cx="64008" cy="43159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CardTitle"/>
          <p:cNvSpPr/>
          <p:nvPr/>
        </p:nvSpPr>
        <p:spPr>
          <a:xfrm>
            <a:off x="484632" y="713231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500" b="1" dirty="0">
                <a:solidFill>
                  <a:srgbClr val="065A82"/>
                </a:solidFill>
                <a:latin typeface="Calibri" pitchFamily="34" charset="0"/>
              </a:rPr>
              <a:t>為何選擇 Macro F1，而非 Accuracy？</a:t>
            </a:r>
          </a:p>
        </p:txBody>
      </p:sp>
      <p:sp>
        <p:nvSpPr>
          <p:cNvPr id="8" name="F1Body"/>
          <p:cNvSpPr/>
          <p:nvPr/>
        </p:nvSpPr>
        <p:spPr>
          <a:xfrm>
            <a:off x="475488" y="1078992"/>
            <a:ext cx="3886200" cy="3749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  <a:latin typeface="Calibri" pitchFamily="34" charset="0"/>
              </a:rPr>
              <a:t>資料不平衡問題</a:t>
            </a:r>
          </a:p>
          <a:p>
            <a:pPr marL="0" indent="0" algn="l">
              <a:buNone/>
            </a:pPr>
            <a:endParaRPr lang="zh-TW" sz="1300" b="1" dirty="0">
              <a:solidFill>
                <a:srgbClr val="065A82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150" b="0" dirty="0">
                <a:solidFill>
                  <a:srgbClr val="E74C3C"/>
                </a:solidFill>
                <a:latin typeface="Calibri" pitchFamily="34" charset="0"/>
              </a:rPr>
              <a:t>Stage 1: 49 張 (17%)　Stage 2: 112 張 (39%)</a:t>
            </a:r>
          </a:p>
          <a:p>
            <a:pPr marL="0" indent="0" algn="l">
              <a:buNone/>
            </a:pPr>
            <a:r>
              <a:rPr lang="zh-TW" sz="1150" b="0" dirty="0">
                <a:solidFill>
                  <a:srgbClr val="4A5568"/>
                </a:solidFill>
                <a:latin typeface="Calibri" pitchFamily="34" charset="0"/>
              </a:rPr>
              <a:t>Stage 3: 60 張 (21%)　Stage 4: 66 張 (23%)</a:t>
            </a:r>
          </a:p>
          <a:p>
            <a:pPr marL="0" indent="0" algn="l">
              <a:buNone/>
            </a:pPr>
            <a:endParaRPr lang="zh-TW" sz="1150" b="0" dirty="0">
              <a:solidFill>
                <a:srgbClr val="4A5568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  <a:latin typeface="Calibri" pitchFamily="34" charset="0"/>
              </a:rPr>
              <a:t>Accuracy 的問題</a:t>
            </a:r>
          </a:p>
          <a:p>
            <a:pPr marL="0" indent="0" algn="l">
              <a:buNone/>
            </a:pPr>
            <a:endParaRPr lang="zh-TW" sz="1300" b="1" dirty="0">
              <a:solidFill>
                <a:srgbClr val="065A82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150" b="0" dirty="0">
                <a:solidFill>
                  <a:srgbClr val="1A202C"/>
                </a:solidFill>
                <a:latin typeface="Calibri" pitchFamily="34" charset="0"/>
              </a:rPr>
              <a:t>若用 Accuracy，模型傾向預測多數類別（Stage 2）以獲得較高分數，少數類別（Stage 1）容易被忽略。</a:t>
            </a:r>
          </a:p>
          <a:p>
            <a:pPr marL="0" indent="0" algn="l">
              <a:buNone/>
            </a:pPr>
            <a:endParaRPr lang="zh-TW" sz="1150" b="0" dirty="0">
              <a:solidFill>
                <a:srgbClr val="1A202C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  <a:latin typeface="Calibri" pitchFamily="34" charset="0"/>
              </a:rPr>
              <a:t>Macro F1 的優勢</a:t>
            </a:r>
          </a:p>
          <a:p>
            <a:pPr marL="0" indent="0" algn="l">
              <a:buNone/>
            </a:pPr>
            <a:endParaRPr lang="zh-TW" sz="1300" b="1" dirty="0">
              <a:solidFill>
                <a:srgbClr val="065A82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150" b="0" dirty="0">
                <a:solidFill>
                  <a:srgbClr val="1A202C"/>
                </a:solidFill>
                <a:latin typeface="Calibri" pitchFamily="34" charset="0"/>
              </a:rPr>
              <a:t>對每個 Stage 分別計算 F1 Score，再取平均。每個 Stage 被視為同等重要，不受類別數量影響，更公平地反映各期別的辨識能力。</a:t>
            </a:r>
          </a:p>
        </p:txBody>
      </p:sp>
      <p:sp>
        <p:nvSpPr>
          <p:cNvPr id="9" name="Card"/>
          <p:cNvSpPr/>
          <p:nvPr/>
        </p:nvSpPr>
        <p:spPr>
          <a:xfrm>
            <a:off x="4663440" y="640080"/>
            <a:ext cx="41605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663440" y="640080"/>
            <a:ext cx="64008" cy="4315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CardTitle"/>
          <p:cNvSpPr/>
          <p:nvPr/>
        </p:nvSpPr>
        <p:spPr>
          <a:xfrm>
            <a:off x="4828031" y="713231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500" b="1" dirty="0">
                <a:solidFill>
                  <a:srgbClr val="028090"/>
                </a:solidFill>
                <a:latin typeface="Calibri" pitchFamily="34" charset="0"/>
              </a:rPr>
              <a:t>模型候選與篩選流程</a:t>
            </a:r>
          </a:p>
        </p:txBody>
      </p:sp>
      <p:sp>
        <p:nvSpPr>
          <p:cNvPr id="12" name="ProcBody"/>
          <p:cNvSpPr/>
          <p:nvPr/>
        </p:nvSpPr>
        <p:spPr>
          <a:xfrm>
            <a:off x="4828032" y="1078992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028090"/>
                </a:solidFill>
                <a:latin typeface="Calibri" pitchFamily="34" charset="0"/>
              </a:rPr>
              <a:t>候選架構池</a:t>
            </a:r>
          </a:p>
          <a:p>
            <a:pPr marL="0" indent="0" algn="l">
              <a:buNone/>
            </a:pPr>
            <a:endParaRPr lang="zh-TW" sz="1300" b="1" dirty="0">
              <a:solidFill>
                <a:srgbClr val="028090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zh-TW" sz="1100" b="0" dirty="0">
                <a:solidFill>
                  <a:srgbClr val="1A202C"/>
                </a:solidFill>
                <a:latin typeface="Calibri" pitchFamily="34" charset="0"/>
              </a:rPr>
              <a:t>DenseNet121 / DenseNet169 / DenseNet201</a:t>
            </a:r>
          </a:p>
          <a:p>
            <a:pPr marL="0" indent="0" algn="l">
              <a:buNone/>
            </a:pPr>
            <a:r>
              <a:rPr lang="zh-TW" sz="1100" b="0" dirty="0">
                <a:solidFill>
                  <a:srgbClr val="1A202C"/>
                </a:solidFill>
                <a:latin typeface="Calibri" pitchFamily="34" charset="0"/>
              </a:rPr>
              <a:t>EfficientNet-B0 / B2 / B4</a:t>
            </a:r>
          </a:p>
          <a:p>
            <a:pPr marL="0" indent="0" algn="l">
              <a:buNone/>
            </a:pPr>
            <a:r>
              <a:rPr lang="zh-TW" sz="1100" b="0" dirty="0">
                <a:solidFill>
                  <a:srgbClr val="1A202C"/>
                </a:solidFill>
                <a:latin typeface="Calibri" pitchFamily="34" charset="0"/>
              </a:rPr>
              <a:t>ResNet50 / ResNet101 / ResNet152</a:t>
            </a:r>
          </a:p>
          <a:p>
            <a:pPr marL="0" indent="0" algn="l">
              <a:buNone/>
            </a:pPr>
            <a:r>
              <a:rPr lang="zh-TW" sz="1100" b="0" dirty="0">
                <a:solidFill>
                  <a:srgbClr val="1A202C"/>
                </a:solidFill>
                <a:latin typeface="Calibri" pitchFamily="34" charset="0"/>
              </a:rPr>
              <a:t>VGG16 / VGG19　ConvNeXt-Tiny / Small</a:t>
            </a:r>
          </a:p>
        </p:txBody>
      </p:sp>
      <p:sp>
        <p:nvSpPr>
          <p:cNvPr id="13" name="PStep0Bg"/>
          <p:cNvSpPr/>
          <p:nvPr/>
        </p:nvSpPr>
        <p:spPr>
          <a:xfrm>
            <a:off x="4828032" y="3090672"/>
            <a:ext cx="3886200" cy="493776"/>
          </a:xfrm>
          <a:prstGeom prst="rect">
            <a:avLst/>
          </a:prstGeom>
          <a:solidFill>
            <a:srgbClr val="EB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PStep0Acc"/>
          <p:cNvSpPr/>
          <p:nvPr/>
        </p:nvSpPr>
        <p:spPr>
          <a:xfrm>
            <a:off x="4828032" y="3090672"/>
            <a:ext cx="384048" cy="4937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PNum0"/>
          <p:cNvSpPr/>
          <p:nvPr/>
        </p:nvSpPr>
        <p:spPr>
          <a:xfrm>
            <a:off x="4828032" y="3090672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FFFFFF"/>
                </a:solidFill>
                <a:latin typeface="Calibri" pitchFamily="34" charset="0"/>
              </a:rPr>
              <a:t>①</a:t>
            </a:r>
          </a:p>
        </p:txBody>
      </p:sp>
      <p:sp>
        <p:nvSpPr>
          <p:cNvPr id="16" name="PTitle0"/>
          <p:cNvSpPr/>
          <p:nvPr/>
        </p:nvSpPr>
        <p:spPr>
          <a:xfrm>
            <a:off x="5321808" y="30906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065A82"/>
                </a:solidFill>
                <a:latin typeface="Calibri" pitchFamily="34" charset="0"/>
              </a:rPr>
              <a:t>相同設定獨立訓練</a:t>
            </a:r>
          </a:p>
        </p:txBody>
      </p:sp>
      <p:sp>
        <p:nvSpPr>
          <p:cNvPr id="17" name="PDesc0"/>
          <p:cNvSpPr/>
          <p:nvPr/>
        </p:nvSpPr>
        <p:spPr>
          <a:xfrm>
            <a:off x="5321808" y="3337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050" b="0" dirty="0">
                <a:solidFill>
                  <a:srgbClr val="4A5568"/>
                </a:solidFill>
                <a:latin typeface="Calibri" pitchFamily="34" charset="0"/>
              </a:rPr>
              <a:t>所有候選模型使用相同 Augmentation 與 Optimizer</a:t>
            </a:r>
          </a:p>
        </p:txBody>
      </p:sp>
      <p:sp>
        <p:nvSpPr>
          <p:cNvPr id="18" name="PStep1Bg"/>
          <p:cNvSpPr/>
          <p:nvPr/>
        </p:nvSpPr>
        <p:spPr>
          <a:xfrm>
            <a:off x="4828032" y="3657600"/>
            <a:ext cx="3886200" cy="493776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PStep1Acc"/>
          <p:cNvSpPr/>
          <p:nvPr/>
        </p:nvSpPr>
        <p:spPr>
          <a:xfrm>
            <a:off x="4828032" y="3657600"/>
            <a:ext cx="384048" cy="4937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PNum1"/>
          <p:cNvSpPr/>
          <p:nvPr/>
        </p:nvSpPr>
        <p:spPr>
          <a:xfrm>
            <a:off x="4828032" y="3657600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FFFFFF"/>
                </a:solidFill>
                <a:latin typeface="Calibri" pitchFamily="34" charset="0"/>
              </a:rPr>
              <a:t>②</a:t>
            </a:r>
          </a:p>
        </p:txBody>
      </p:sp>
      <p:sp>
        <p:nvSpPr>
          <p:cNvPr id="21" name="PTitle1"/>
          <p:cNvSpPr/>
          <p:nvPr/>
        </p:nvSpPr>
        <p:spPr>
          <a:xfrm>
            <a:off x="5321808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065A82"/>
                </a:solidFill>
                <a:latin typeface="Calibri" pitchFamily="34" charset="0"/>
              </a:rPr>
              <a:t>計算 Val Macro F1</a:t>
            </a:r>
          </a:p>
        </p:txBody>
      </p:sp>
      <p:sp>
        <p:nvSpPr>
          <p:cNvPr id="22" name="PDesc1"/>
          <p:cNvSpPr/>
          <p:nvPr/>
        </p:nvSpPr>
        <p:spPr>
          <a:xfrm>
            <a:off x="5321808" y="3904487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050" b="0" dirty="0">
                <a:solidFill>
                  <a:srgbClr val="4A5568"/>
                </a:solidFill>
                <a:latin typeface="Calibri" pitchFamily="34" charset="0"/>
              </a:rPr>
              <a:t>以驗證集 Macro F1 排序所有候選模型</a:t>
            </a:r>
          </a:p>
        </p:txBody>
      </p:sp>
      <p:sp>
        <p:nvSpPr>
          <p:cNvPr id="23" name="PStep2Bg"/>
          <p:cNvSpPr/>
          <p:nvPr/>
        </p:nvSpPr>
        <p:spPr>
          <a:xfrm>
            <a:off x="4828032" y="4224528"/>
            <a:ext cx="3886200" cy="493776"/>
          </a:xfrm>
          <a:prstGeom prst="rect">
            <a:avLst/>
          </a:prstGeom>
          <a:solidFill>
            <a:srgbClr val="EB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PStep2Acc"/>
          <p:cNvSpPr/>
          <p:nvPr/>
        </p:nvSpPr>
        <p:spPr>
          <a:xfrm>
            <a:off x="4828032" y="4224528"/>
            <a:ext cx="384048" cy="4937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PNum2"/>
          <p:cNvSpPr/>
          <p:nvPr/>
        </p:nvSpPr>
        <p:spPr>
          <a:xfrm>
            <a:off x="4828032" y="4224528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200" b="1" dirty="0">
                <a:solidFill>
                  <a:srgbClr val="FFFFFF"/>
                </a:solidFill>
                <a:latin typeface="Calibri" pitchFamily="34" charset="0"/>
              </a:rPr>
              <a:t>③</a:t>
            </a:r>
          </a:p>
        </p:txBody>
      </p:sp>
      <p:sp>
        <p:nvSpPr>
          <p:cNvPr id="26" name="PTitle2"/>
          <p:cNvSpPr/>
          <p:nvPr/>
        </p:nvSpPr>
        <p:spPr>
          <a:xfrm>
            <a:off x="5321808" y="4224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065A82"/>
                </a:solidFill>
                <a:latin typeface="Calibri" pitchFamily="34" charset="0"/>
              </a:rPr>
              <a:t>選取最高分模型</a:t>
            </a:r>
          </a:p>
        </p:txBody>
      </p:sp>
      <p:sp>
        <p:nvSpPr>
          <p:cNvPr id="27" name="PDesc2"/>
          <p:cNvSpPr/>
          <p:nvPr/>
        </p:nvSpPr>
        <p:spPr>
          <a:xfrm>
            <a:off x="5321808" y="44714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050" b="0" dirty="0">
                <a:solidFill>
                  <a:srgbClr val="4A5568"/>
                </a:solidFill>
                <a:latin typeface="Calibri" pitchFamily="34" charset="0"/>
              </a:rPr>
              <a:t>Macro F1 最高者作為該任務的最終模型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Bg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800" b="1" dirty="0">
                <a:solidFill>
                  <a:srgbClr val="FFFFFF"/>
                </a:solidFill>
                <a:latin typeface="Calibri" pitchFamily="34" charset="0"/>
              </a:rPr>
              <a:t>Stacking Ensemble 實驗</a:t>
            </a:r>
          </a:p>
        </p:txBody>
      </p:sp>
      <p:sp>
        <p:nvSpPr>
          <p:cNvPr id="4" name="SlideNum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</a:p>
        </p:txBody>
      </p:sp>
      <p:sp>
        <p:nvSpPr>
          <p:cNvPr id="5" name="ExpBg"/>
          <p:cNvSpPr/>
          <p:nvPr/>
        </p:nvSpPr>
        <p:spPr>
          <a:xfrm>
            <a:off x="320040" y="6400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ExpAccent"/>
          <p:cNvSpPr/>
          <p:nvPr/>
        </p:nvSpPr>
        <p:spPr>
          <a:xfrm>
            <a:off x="320040" y="640080"/>
            <a:ext cx="64008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ExpText"/>
          <p:cNvSpPr/>
          <p:nvPr/>
        </p:nvSpPr>
        <p:spPr>
          <a:xfrm>
            <a:off x="475488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065A82"/>
                </a:solidFill>
                <a:latin typeface="Calibri" pitchFamily="34" charset="0"/>
              </a:rPr>
              <a:t>什麼是 Stacking？</a:t>
            </a:r>
          </a:p>
          <a:p>
            <a:pPr marL="0" indent="0" algn="l">
              <a:buNone/>
            </a:pPr>
            <a:r>
              <a:rPr lang="zh-TW" sz="1100" b="0" dirty="0">
                <a:solidFill>
                  <a:srgbClr val="4A5568"/>
                </a:solidFill>
                <a:latin typeface="Calibri" pitchFamily="34" charset="0"/>
              </a:rPr>
              <a:t>多個 Base Model 各自輸出預測機率向量，再由 Meta-learner（Logistic Regression）學習如何最佳組合各模型的輸出，取長補短</a:t>
            </a:r>
          </a:p>
        </p:txBody>
      </p:sp>
      <p:sp>
        <p:nvSpPr>
          <p:cNvPr id="8" name="SelBg"/>
          <p:cNvSpPr/>
          <p:nvPr/>
        </p:nvSpPr>
        <p:spPr>
          <a:xfrm>
            <a:off x="320040" y="1463040"/>
            <a:ext cx="850392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9" name="SelAcc"/>
          <p:cNvSpPr/>
          <p:nvPr/>
        </p:nvSpPr>
        <p:spPr>
          <a:xfrm>
            <a:off x="320040" y="146304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elText"/>
          <p:cNvSpPr/>
          <p:nvPr/>
        </p:nvSpPr>
        <p:spPr>
          <a:xfrm>
            <a:off x="475488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150" b="0" dirty="0">
                <a:solidFill>
                  <a:srgbClr val="065A82"/>
                </a:solidFill>
                <a:latin typeface="Calibri" pitchFamily="34" charset="0"/>
              </a:rPr>
              <a:t>選取原則：驗證集 Macro F1 前三名，且須來自不同模型家族（避免同質性，確保多樣性互補）</a:t>
            </a:r>
          </a:p>
        </p:txBody>
      </p:sp>
      <p:sp>
        <p:nvSpPr>
          <p:cNvPr id="11" name="M0Bg"/>
          <p:cNvSpPr/>
          <p:nvPr/>
        </p:nvSpPr>
        <p:spPr>
          <a:xfrm>
            <a:off x="320040" y="2103120"/>
            <a:ext cx="26334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M0Hdr"/>
          <p:cNvSpPr/>
          <p:nvPr/>
        </p:nvSpPr>
        <p:spPr>
          <a:xfrm>
            <a:off x="320040" y="2103120"/>
            <a:ext cx="2633472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M0HdrTxt"/>
          <p:cNvSpPr/>
          <p:nvPr/>
        </p:nvSpPr>
        <p:spPr>
          <a:xfrm>
            <a:off x="320040" y="21031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500" b="1" dirty="0">
                <a:solidFill>
                  <a:srgbClr val="FFFFFF"/>
                </a:solidFill>
                <a:latin typeface="Calibri" pitchFamily="34" charset="0"/>
              </a:rPr>
              <a:t>Model 1</a:t>
            </a:r>
          </a:p>
        </p:txBody>
      </p:sp>
      <p:sp>
        <p:nvSpPr>
          <p:cNvPr id="14" name="M0Task"/>
          <p:cNvSpPr/>
          <p:nvPr/>
        </p:nvSpPr>
        <p:spPr>
          <a:xfrm>
            <a:off x="411479" y="2578608"/>
            <a:ext cx="2450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50" b="0" dirty="0">
                <a:solidFill>
                  <a:srgbClr val="4A5568"/>
                </a:solidFill>
                <a:latin typeface="Calibri" pitchFamily="34" charset="0"/>
              </a:rPr>
              <a:t>Stage 4 vs. Others</a:t>
            </a:r>
          </a:p>
        </p:txBody>
      </p:sp>
      <p:sp>
        <p:nvSpPr>
          <p:cNvPr id="15" name="M0ModBg"/>
          <p:cNvSpPr/>
          <p:nvPr/>
        </p:nvSpPr>
        <p:spPr>
          <a:xfrm>
            <a:off x="411479" y="2926080"/>
            <a:ext cx="2450591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M0Mods"/>
          <p:cNvSpPr/>
          <p:nvPr/>
        </p:nvSpPr>
        <p:spPr>
          <a:xfrm>
            <a:off x="457200" y="294436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950" b="1" dirty="0">
                <a:solidFill>
                  <a:srgbClr val="065A82"/>
                </a:solidFill>
                <a:latin typeface="Calibri" pitchFamily="34" charset="0"/>
              </a:rPr>
              <a:t>Base Models:</a:t>
            </a:r>
          </a:p>
          <a:p>
            <a:pPr marL="0" indent="0" algn="l">
              <a:buNone/>
            </a:pPr>
            <a:r>
              <a:rPr lang="zh-TW" sz="950" b="0" dirty="0">
                <a:solidFill>
                  <a:srgbClr val="4A5568"/>
                </a:solidFill>
                <a:latin typeface="Calibri" pitchFamily="34" charset="0"/>
              </a:rPr>
              <a:t>DenseNet 家族 + EfficientNet 家族 + ResNet 家族</a:t>
            </a:r>
          </a:p>
        </p:txBody>
      </p:sp>
      <p:sp>
        <p:nvSpPr>
          <p:cNvPr id="17" name="M0ResBg"/>
          <p:cNvSpPr/>
          <p:nvPr/>
        </p:nvSpPr>
        <p:spPr>
          <a:xfrm>
            <a:off x="411479" y="3520440"/>
            <a:ext cx="2450591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8" name="M0ResText"/>
          <p:cNvSpPr/>
          <p:nvPr/>
        </p:nvSpPr>
        <p:spPr>
          <a:xfrm>
            <a:off x="457200" y="3547872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sz="1100" b="0" dirty="0">
                <a:solidFill>
                  <a:srgbClr val="856404"/>
                </a:solidFill>
                <a:latin typeface="Calibri" pitchFamily="34" charset="0"/>
              </a:rPr>
              <a:t>Stacking 效果未提升</a:t>
            </a:r>
          </a:p>
          <a:p>
            <a:pPr marL="0" indent="0" algn="ctr">
              <a:buNone/>
            </a:pPr>
            <a:r>
              <a:rPr lang="zh-TW" sz="1100" b="0" dirty="0">
                <a:solidFill>
                  <a:srgbClr val="856404"/>
                </a:solidFill>
                <a:latin typeface="Calibri" pitchFamily="34" charset="0"/>
              </a:rPr>
              <a:t>→ 維持單一最佳模型</a:t>
            </a:r>
          </a:p>
        </p:txBody>
      </p:sp>
      <p:sp>
        <p:nvSpPr>
          <p:cNvPr id="19" name="M1Bg"/>
          <p:cNvSpPr/>
          <p:nvPr/>
        </p:nvSpPr>
        <p:spPr>
          <a:xfrm>
            <a:off x="3108960" y="2103120"/>
            <a:ext cx="26334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M1Hdr"/>
          <p:cNvSpPr/>
          <p:nvPr/>
        </p:nvSpPr>
        <p:spPr>
          <a:xfrm>
            <a:off x="3108960" y="2103120"/>
            <a:ext cx="2633472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M1HdrTxt"/>
          <p:cNvSpPr/>
          <p:nvPr/>
        </p:nvSpPr>
        <p:spPr>
          <a:xfrm>
            <a:off x="3108960" y="21031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500" b="1" dirty="0">
                <a:solidFill>
                  <a:srgbClr val="FFFFFF"/>
                </a:solidFill>
                <a:latin typeface="Calibri" pitchFamily="34" charset="0"/>
              </a:rPr>
              <a:t>Model 2</a:t>
            </a:r>
          </a:p>
        </p:txBody>
      </p:sp>
      <p:sp>
        <p:nvSpPr>
          <p:cNvPr id="22" name="M1Task"/>
          <p:cNvSpPr/>
          <p:nvPr/>
        </p:nvSpPr>
        <p:spPr>
          <a:xfrm>
            <a:off x="3200400" y="2578608"/>
            <a:ext cx="2450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50" b="0" dirty="0">
                <a:solidFill>
                  <a:srgbClr val="4A5568"/>
                </a:solidFill>
                <a:latin typeface="Calibri" pitchFamily="34" charset="0"/>
              </a:rPr>
              <a:t>Stage 1 vs. Others</a:t>
            </a:r>
          </a:p>
        </p:txBody>
      </p:sp>
      <p:sp>
        <p:nvSpPr>
          <p:cNvPr id="23" name="M1ModBg"/>
          <p:cNvSpPr/>
          <p:nvPr/>
        </p:nvSpPr>
        <p:spPr>
          <a:xfrm>
            <a:off x="3200400" y="2926080"/>
            <a:ext cx="2450591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M1Mods"/>
          <p:cNvSpPr/>
          <p:nvPr/>
        </p:nvSpPr>
        <p:spPr>
          <a:xfrm>
            <a:off x="3246120" y="294436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950" b="1" dirty="0">
                <a:solidFill>
                  <a:srgbClr val="065A82"/>
                </a:solidFill>
                <a:latin typeface="Calibri" pitchFamily="34" charset="0"/>
              </a:rPr>
              <a:t>Base Models:</a:t>
            </a:r>
          </a:p>
          <a:p>
            <a:pPr marL="0" indent="0" algn="l">
              <a:buNone/>
            </a:pPr>
            <a:r>
              <a:rPr lang="zh-TW" sz="950" b="0" dirty="0">
                <a:solidFill>
                  <a:srgbClr val="4A5568"/>
                </a:solidFill>
                <a:latin typeface="Calibri" pitchFamily="34" charset="0"/>
              </a:rPr>
              <a:t>EfficientNet-B0 + ResNet50 + ConvNeXt-Tiny</a:t>
            </a:r>
          </a:p>
        </p:txBody>
      </p:sp>
      <p:sp>
        <p:nvSpPr>
          <p:cNvPr id="25" name="M1ResBg"/>
          <p:cNvSpPr/>
          <p:nvPr/>
        </p:nvSpPr>
        <p:spPr>
          <a:xfrm>
            <a:off x="3200400" y="3520440"/>
            <a:ext cx="2450591" cy="77724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6" name="M1ResText"/>
          <p:cNvSpPr/>
          <p:nvPr/>
        </p:nvSpPr>
        <p:spPr>
          <a:xfrm>
            <a:off x="3246120" y="3547872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sz="1100" b="1" dirty="0">
                <a:solidFill>
                  <a:srgbClr val="155724"/>
                </a:solidFill>
                <a:latin typeface="Calibri" pitchFamily="34" charset="0"/>
              </a:rPr>
              <a:t>Stacking 效果有提升 ✓</a:t>
            </a:r>
          </a:p>
          <a:p>
            <a:pPr marL="0" indent="0" algn="ctr">
              <a:buNone/>
            </a:pPr>
            <a:r>
              <a:rPr lang="zh-TW" sz="1100" b="1" dirty="0">
                <a:solidFill>
                  <a:srgbClr val="155724"/>
                </a:solidFill>
                <a:latin typeface="Calibri" pitchFamily="34" charset="0"/>
              </a:rPr>
              <a:t>→ 採用 Stacking Ensemble</a:t>
            </a:r>
          </a:p>
        </p:txBody>
      </p:sp>
      <p:sp>
        <p:nvSpPr>
          <p:cNvPr id="27" name="M2Bg"/>
          <p:cNvSpPr/>
          <p:nvPr/>
        </p:nvSpPr>
        <p:spPr>
          <a:xfrm>
            <a:off x="5897879" y="2103120"/>
            <a:ext cx="26334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M2Hdr"/>
          <p:cNvSpPr/>
          <p:nvPr/>
        </p:nvSpPr>
        <p:spPr>
          <a:xfrm>
            <a:off x="5897879" y="2103120"/>
            <a:ext cx="2633472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M2HdrTxt"/>
          <p:cNvSpPr/>
          <p:nvPr/>
        </p:nvSpPr>
        <p:spPr>
          <a:xfrm>
            <a:off x="5897879" y="21031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500" b="1" dirty="0">
                <a:solidFill>
                  <a:srgbClr val="FFFFFF"/>
                </a:solidFill>
                <a:latin typeface="Calibri" pitchFamily="34" charset="0"/>
              </a:rPr>
              <a:t>Model 3</a:t>
            </a:r>
          </a:p>
        </p:txBody>
      </p:sp>
      <p:sp>
        <p:nvSpPr>
          <p:cNvPr id="30" name="M2Task"/>
          <p:cNvSpPr/>
          <p:nvPr/>
        </p:nvSpPr>
        <p:spPr>
          <a:xfrm>
            <a:off x="5989319" y="2578608"/>
            <a:ext cx="2450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50" b="0" dirty="0">
                <a:solidFill>
                  <a:srgbClr val="4A5568"/>
                </a:solidFill>
                <a:latin typeface="Calibri" pitchFamily="34" charset="0"/>
              </a:rPr>
              <a:t>Stage 2 vs. Stage 3</a:t>
            </a:r>
          </a:p>
        </p:txBody>
      </p:sp>
      <p:sp>
        <p:nvSpPr>
          <p:cNvPr id="31" name="M2ModBg"/>
          <p:cNvSpPr/>
          <p:nvPr/>
        </p:nvSpPr>
        <p:spPr>
          <a:xfrm>
            <a:off x="5989319" y="2926080"/>
            <a:ext cx="2450591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M2Mods"/>
          <p:cNvSpPr/>
          <p:nvPr/>
        </p:nvSpPr>
        <p:spPr>
          <a:xfrm>
            <a:off x="6035040" y="294436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sz="950" b="1" dirty="0">
                <a:solidFill>
                  <a:srgbClr val="065A82"/>
                </a:solidFill>
                <a:latin typeface="Calibri" pitchFamily="34" charset="0"/>
              </a:rPr>
              <a:t>Base Models:</a:t>
            </a:r>
          </a:p>
          <a:p>
            <a:pPr marL="0" indent="0" algn="l">
              <a:buNone/>
            </a:pPr>
            <a:r>
              <a:rPr lang="zh-TW" sz="950" b="0" dirty="0">
                <a:solidFill>
                  <a:srgbClr val="4A5568"/>
                </a:solidFill>
                <a:latin typeface="Calibri" pitchFamily="34" charset="0"/>
              </a:rPr>
              <a:t>DenseNet 家族 + EfficientNet 家族 + ConvNeXt 家族</a:t>
            </a:r>
          </a:p>
        </p:txBody>
      </p:sp>
      <p:sp>
        <p:nvSpPr>
          <p:cNvPr id="33" name="M2ResBg"/>
          <p:cNvSpPr/>
          <p:nvPr/>
        </p:nvSpPr>
        <p:spPr>
          <a:xfrm>
            <a:off x="5989319" y="3520440"/>
            <a:ext cx="2450591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34" name="M2ResText"/>
          <p:cNvSpPr/>
          <p:nvPr/>
        </p:nvSpPr>
        <p:spPr>
          <a:xfrm>
            <a:off x="6035040" y="3547872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sz="1100" b="0" dirty="0">
                <a:solidFill>
                  <a:srgbClr val="856404"/>
                </a:solidFill>
                <a:latin typeface="Calibri" pitchFamily="34" charset="0"/>
              </a:rPr>
              <a:t>Stacking 效果未提升</a:t>
            </a:r>
          </a:p>
          <a:p>
            <a:pPr marL="0" indent="0" algn="ctr">
              <a:buNone/>
            </a:pPr>
            <a:r>
              <a:rPr lang="zh-TW" sz="1100" b="0" dirty="0">
                <a:solidFill>
                  <a:srgbClr val="856404"/>
                </a:solidFill>
                <a:latin typeface="Calibri" pitchFamily="34" charset="0"/>
              </a:rPr>
              <a:t>→ 維持單一最佳模型</a:t>
            </a:r>
          </a:p>
        </p:txBody>
      </p:sp>
      <p:sp>
        <p:nvSpPr>
          <p:cNvPr id="35" name="SumBg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SumText"/>
          <p:cNvSpPr/>
          <p:nvPr/>
        </p:nvSpPr>
        <p:spPr>
          <a:xfrm>
            <a:off x="45720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1000" b="0" dirty="0">
                <a:solidFill>
                  <a:srgbClr val="02C39A"/>
                </a:solidFill>
                <a:latin typeface="Calibri" pitchFamily="34" charset="0"/>
              </a:rPr>
              <a:t>結論：Stacking 僅在 Model 2（Stage 1 辨識）帶來改善；其他兩個任務維持單一最佳模型，避免增加不必要的複雜度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模組三：深度學習模型設計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58368"/>
            <a:ext cx="4114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8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&amp;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3840480" cy="59436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任務：Stage 4 vs. Others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vs. Stage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核心特點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connectivity 促進特徵重用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預訓練 ImageNet 權重 (Transfer Learning)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最終層替換為二元分類頭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65836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658368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658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846320" y="1755648"/>
            <a:ext cx="3840480" cy="59436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755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任務：Stage 1 vs. Others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163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+ ResNet50 + ConvNeXt-Tiny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2735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各模型獨立訓練後輸出機率向量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7307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Meta-learner 學習如何最佳組合三個模型的輸出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41879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驗證集與測試集均優於單一模型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共用設定：Adam Optimizer  ·  Learning Rate 1e-4  ·  Data Augmentation (</a:t>
            </a: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隨機旋轉 </a:t>
            </a:r>
            <a:r>
              <a:rPr lang="en-US" altLang="zh-TW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度</a:t>
            </a:r>
            <a:r>
              <a:rPr lang="en-US" altLang="zh-TW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Checkpointing (</a:t>
            </a: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儲存最佳權重</a:t>
            </a:r>
            <a:r>
              <a:rPr lang="en-US" altLang="zh-TW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zh-TW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</a:t>
            </a:r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114800" cy="4297680"/>
          </a:xfrm>
          <a:prstGeom prst="rect">
            <a:avLst/>
          </a:prstGeom>
          <a:solidFill>
            <a:srgbClr val="0D2231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58368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8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熱力圖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840480" cy="1645920"/>
          </a:xfrm>
          <a:prstGeom prst="rect">
            <a:avLst/>
          </a:prstGeom>
          <a:solidFill>
            <a:srgbClr val="1A304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示意圖 / 實際分析圖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視覺化模型關注的影像區域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熱力圖疊加於原始 X 光上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醫師可直觀確認模型決策依據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325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驗證模型聚焦於股骨頭病灶，非骨盆或股骨幹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658368"/>
            <a:ext cx="4114800" cy="4297680"/>
          </a:xfrm>
          <a:prstGeom prst="rect">
            <a:avLst/>
          </a:prstGeom>
          <a:solidFill>
            <a:srgbClr val="0D2231"/>
          </a:solidFill>
          <a:ln w="1905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658368"/>
            <a:ext cx="41148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658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特徵空間分析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t-Distributed Stochastic Neighbor Embedding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600200"/>
            <a:ext cx="3840480" cy="1645920"/>
          </a:xfrm>
          <a:prstGeom prst="rect">
            <a:avLst/>
          </a:prstGeom>
          <a:solidFill>
            <a:srgbClr val="1A3045"/>
          </a:solidFill>
          <a:ln w="635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002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示意圖 / 實際分析圖 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將高維特徵向量投影至 2D 空間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視覺化各 Stage 的特徵分佈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95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評估模型的類別可分離程度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325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觀察 Stage 2/3 的特徵重疊情況</a:t>
            </a:r>
            <a:endParaRPr lang="en-US" sz="120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DF121B28-4DE0-C59B-EA66-94159AC88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1" y="1752371"/>
            <a:ext cx="3840478" cy="1344841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9092D838-BCB8-DFC6-EDB7-D5695253B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09344"/>
            <a:ext cx="1922569" cy="164592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5D75CD3-8A5B-B225-6960-3BA5332FD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890" y="1609344"/>
            <a:ext cx="19239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端對端系統實驗結果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132588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6217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2131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6230" y="14356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41 correct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46504" y="594360"/>
            <a:ext cx="13258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46504" y="6217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50314" y="12131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42694" y="14417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46 correct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594360"/>
            <a:ext cx="1325880" cy="10515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72968" y="6217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172968" y="12070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65348" y="14538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avg. F1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99432" y="594360"/>
            <a:ext cx="1325880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9432" y="6217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93082" y="12131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Macro F1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3082" y="14356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avg. F1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1764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各期別效能（Test set，Hierarchical 系統）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121408"/>
            <a:ext cx="6858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121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2121408"/>
            <a:ext cx="82296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121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2121408"/>
            <a:ext cx="6858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2121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2121408"/>
            <a:ext cx="9144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121408"/>
            <a:ext cx="6858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121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395728"/>
            <a:ext cx="68580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395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2395728"/>
            <a:ext cx="82296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2395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0" y="2395728"/>
            <a:ext cx="6858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2395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14600" y="2395728"/>
            <a:ext cx="9144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29000" y="2395728"/>
            <a:ext cx="6858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395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2724912"/>
            <a:ext cx="685800" cy="32918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72491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5840" y="2724912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2724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0" y="272491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272491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14600" y="272491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2724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29000" y="272491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272491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3054096"/>
            <a:ext cx="6858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05409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5840" y="3054096"/>
            <a:ext cx="82296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30540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0" y="3054096"/>
            <a:ext cx="6858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305409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14600" y="3054096"/>
            <a:ext cx="9144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30540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429000" y="3054096"/>
            <a:ext cx="6858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29000" y="305409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" y="3383280"/>
            <a:ext cx="68580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3832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05840" y="3383280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" y="33832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0" y="3383280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0" y="33832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514600" y="338328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14600" y="3383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429000" y="3383280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29000" y="33832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20040" y="3712464"/>
            <a:ext cx="6858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371246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05840" y="3712464"/>
            <a:ext cx="822960" cy="329184"/>
          </a:xfrm>
          <a:prstGeom prst="rect">
            <a:avLst/>
          </a:prstGeom>
          <a:solidFill>
            <a:srgbClr val="EBF4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5840" y="37124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828800" y="3712464"/>
            <a:ext cx="685800" cy="329184"/>
          </a:xfrm>
          <a:prstGeom prst="rect">
            <a:avLst/>
          </a:prstGeom>
          <a:solidFill>
            <a:srgbClr val="EBF4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0" y="371246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514600" y="3712464"/>
            <a:ext cx="914400" cy="329184"/>
          </a:xfrm>
          <a:prstGeom prst="rect">
            <a:avLst/>
          </a:prstGeom>
          <a:solidFill>
            <a:srgbClr val="EBF4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14600" y="37124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429000" y="3712464"/>
            <a:ext cx="685800" cy="329184"/>
          </a:xfrm>
          <a:prstGeom prst="rect">
            <a:avLst/>
          </a:prstGeom>
          <a:solidFill>
            <a:srgbClr val="EBF4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29000" y="371246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20040" y="4187952"/>
            <a:ext cx="4297680" cy="475488"/>
          </a:xfrm>
          <a:prstGeom prst="rect">
            <a:avLst/>
          </a:prstGeom>
          <a:solidFill>
            <a:srgbClr val="FFF3CD"/>
          </a:solidFill>
          <a:ln w="10160">
            <a:solidFill>
              <a:srgbClr val="F6C90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1480" y="418795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Recall 62.5%：早期病變 X 光特徵不顯著，為本研究主要改善方向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3924271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  (Acc = 89.1%)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486400" y="446227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Predicted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800600" y="418795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4892040" y="41879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set: Acc = 95.1%  |  Macro F1 = 94.5%  (n=41)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Acc = 89.1%  |  Macro F1 = 87.7%  (n=46)</a:t>
            </a:r>
            <a:endParaRPr lang="en-US" sz="1100" dirty="0"/>
          </a:p>
        </p:txBody>
      </p:sp>
      <p:pic>
        <p:nvPicPr>
          <p:cNvPr id="140" name="圖片 139">
            <a:extLst>
              <a:ext uri="{FF2B5EF4-FFF2-40B4-BE49-F238E27FC236}">
                <a16:creationId xmlns:a16="http://schemas.microsoft.com/office/drawing/2014/main" id="{BA6DAFDF-52AB-FE44-E207-C5CA6086A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1" y="1673351"/>
            <a:ext cx="2247755" cy="22850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應用系統展示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5212080" cy="4206240"/>
          </a:xfrm>
          <a:prstGeom prst="rect">
            <a:avLst/>
          </a:prstGeom>
          <a:solidFill>
            <a:srgbClr val="E8F4F8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658368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0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Flask Web App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0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截圖或 Demo GIF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15000" y="658368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65836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73368" y="658368"/>
            <a:ext cx="274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70408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影像上傳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3952" y="932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JPEG/PNG 髖關節 X 光上傳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1481328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148132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73368" y="1481328"/>
            <a:ext cx="274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5270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 ROI 偵測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17556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即時定位股骨頭區域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2304288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230428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73368" y="2304288"/>
            <a:ext cx="274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3500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分期預測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 Ficat Stage 與各類別機率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3127248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312724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373368" y="3127248"/>
            <a:ext cx="274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172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視覺化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3952" y="3401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熱力圖疊加原始影像輸出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3950208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395020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373368" y="3950208"/>
            <a:ext cx="2743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995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結果報告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7395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11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分析報告</a:t>
            </a: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呈現</a:t>
            </a:r>
            <a:endParaRPr lang="en-US" altLang="zh-TW" sz="11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F45E936E-0E3A-8A4A-6B9B-FACF29E16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58368"/>
            <a:ext cx="2778105" cy="270041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8BFCEA54-ABFF-D83A-6035-603559121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427" y="2428875"/>
            <a:ext cx="2839569" cy="24357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Bg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71323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600" b="1" dirty="0">
                <a:solidFill>
                  <a:srgbClr val="FFFFFF"/>
                </a:solidFill>
              </a:rPr>
              <a:t>推論技術細節：影像方向處理與最終機率計算</a:t>
            </a:r>
          </a:p>
        </p:txBody>
      </p:sp>
      <p:sp>
        <p:nvSpPr>
          <p:cNvPr id="4" name="SlideNum"/>
          <p:cNvSpPr/>
          <p:nvPr/>
        </p:nvSpPr>
        <p:spPr>
          <a:xfrm>
            <a:off x="8503920" y="0"/>
            <a:ext cx="5486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zh-TW" sz="1400" b="1" dirty="0">
              <a:solidFill>
                <a:srgbClr val="02C39A"/>
              </a:solidFill>
            </a:endParaRPr>
          </a:p>
        </p:txBody>
      </p:sp>
      <p:sp>
        <p:nvSpPr>
          <p:cNvPr id="5" name="LHeader"/>
          <p:cNvSpPr/>
          <p:nvPr/>
        </p:nvSpPr>
        <p:spPr>
          <a:xfrm>
            <a:off x="22860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</a:rPr>
              <a:t>推論方向統一處理</a:t>
            </a:r>
          </a:p>
        </p:txBody>
      </p:sp>
      <p:sp>
        <p:nvSpPr>
          <p:cNvPr id="6" name="LCard_bg"/>
          <p:cNvSpPr/>
          <p:nvPr/>
        </p:nvSpPr>
        <p:spPr>
          <a:xfrm>
            <a:off x="228600" y="960120"/>
            <a:ext cx="5029200" cy="1325880"/>
          </a:xfrm>
          <a:prstGeom prst="rect">
            <a:avLst/>
          </a:prstGeom>
          <a:solidFill>
            <a:srgbClr val="E8F2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LBadge"/>
          <p:cNvSpPr/>
          <p:nvPr/>
        </p:nvSpPr>
        <p:spPr>
          <a:xfrm>
            <a:off x="228600" y="960120"/>
            <a:ext cx="438912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LBadgeTxt"/>
          <p:cNvSpPr/>
          <p:nvPr/>
        </p:nvSpPr>
        <p:spPr>
          <a:xfrm>
            <a:off x="228600" y="960120"/>
            <a:ext cx="438912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700" b="1" dirty="0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9" name="LContent"/>
          <p:cNvSpPr/>
          <p:nvPr/>
        </p:nvSpPr>
        <p:spPr>
          <a:xfrm>
            <a:off x="740664" y="1033272"/>
            <a:ext cx="4453128" cy="11795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zh-TW" sz="1150" b="1" dirty="0">
                <a:solidFill>
                  <a:srgbClr val="065A82"/>
                </a:solidFill>
              </a:rPr>
              <a:t>左側 (L) 影像：直接推論</a:t>
            </a:r>
          </a:p>
          <a:p>
            <a:pPr marL="0" indent="0" algn="l">
              <a:buNone/>
            </a:pPr>
            <a:r>
              <a:rPr lang="zh-TW" sz="980" b="0" dirty="0">
                <a:solidFill>
                  <a:srgbClr val="1A2A3A"/>
                </a:solidFill>
              </a:rPr>
              <a:t>YOLO 裁出的左側骨頭 ROI → 直接送入 m1, m2, m3 神經網路推論（不做任何翻轉）</a:t>
            </a:r>
          </a:p>
          <a:p>
            <a:pPr marL="0" indent="0" algn="l">
              <a:buNone/>
            </a:pPr>
            <a:r>
              <a:rPr lang="zh-TW" sz="980" b="0" dirty="0">
                <a:solidFill>
                  <a:srgbClr val="1A2A3A"/>
                </a:solidFill>
              </a:rPr>
              <a:t>Grad-CAM 熱力圖自然對齊原始影像，無需後處理</a:t>
            </a:r>
          </a:p>
        </p:txBody>
      </p:sp>
      <p:sp>
        <p:nvSpPr>
          <p:cNvPr id="10" name="RCard_bg"/>
          <p:cNvSpPr/>
          <p:nvPr/>
        </p:nvSpPr>
        <p:spPr>
          <a:xfrm>
            <a:off x="228600" y="2377440"/>
            <a:ext cx="502920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RBadge"/>
          <p:cNvSpPr/>
          <p:nvPr/>
        </p:nvSpPr>
        <p:spPr>
          <a:xfrm>
            <a:off x="228600" y="2377440"/>
            <a:ext cx="438912" cy="1783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RBadgeTxt"/>
          <p:cNvSpPr/>
          <p:nvPr/>
        </p:nvSpPr>
        <p:spPr>
          <a:xfrm>
            <a:off x="228600" y="2377440"/>
            <a:ext cx="438912" cy="1783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7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RContent"/>
          <p:cNvSpPr/>
          <p:nvPr/>
        </p:nvSpPr>
        <p:spPr>
          <a:xfrm>
            <a:off x="740664" y="2450592"/>
            <a:ext cx="4453128" cy="16367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zh-TW" sz="1150" b="1" dirty="0">
                <a:solidFill>
                  <a:srgbClr val="C0392B"/>
                </a:solidFill>
              </a:rPr>
              <a:t>右側 (R) 影像：推論前後各翻轉一次</a:t>
            </a:r>
          </a:p>
          <a:p>
            <a:pPr marL="0" indent="0" algn="l">
              <a:buNone/>
            </a:pPr>
            <a:r>
              <a:rPr lang="en-US" sz="920" b="0" dirty="0">
                <a:solidFill>
                  <a:srgbClr val="444444"/>
                </a:solidFill>
              </a:rPr>
              <a:t>推論前：cropped_img.transpose(Image.FLIP_LEFT_RIGHT)</a:t>
            </a:r>
          </a:p>
          <a:p>
            <a:pPr marL="0" indent="0" algn="l">
              <a:buNone/>
            </a:pPr>
            <a:r>
              <a:rPr lang="zh-TW" sz="960" b="0" dirty="0">
                <a:solidFill>
                  <a:srgbClr val="1A2A3A"/>
                </a:solidFill>
              </a:rPr>
              <a:t>→ 鏡像成「左側基準」方向，與訓練集一致後送入 m1, m2, m3</a:t>
            </a:r>
          </a:p>
          <a:p>
            <a:pPr marL="0" indent="0" algn="l">
              <a:buNone/>
            </a:pPr>
            <a:r>
              <a:rPr lang="en-US" sz="920" b="0" dirty="0">
                <a:solidFill>
                  <a:srgbClr val="444444"/>
                </a:solidFill>
              </a:rPr>
              <a:t>推論後 (generate_overlay_base64)：np.fliplr(gcam_map)</a:t>
            </a:r>
          </a:p>
          <a:p>
            <a:pPr marL="0" indent="0" algn="l">
              <a:buNone/>
            </a:pPr>
            <a:r>
              <a:rPr lang="zh-TW" sz="960" b="0" dirty="0">
                <a:solidFill>
                  <a:srgbClr val="1A2A3A"/>
                </a:solidFill>
              </a:rPr>
              <a:t>→ 熱力圖鏡像還原，精準疊加回原始右髖裁切影像上</a:t>
            </a:r>
          </a:p>
        </p:txBody>
      </p:sp>
      <p:sp>
        <p:nvSpPr>
          <p:cNvPr id="14" name="SummBg"/>
          <p:cNvSpPr/>
          <p:nvPr/>
        </p:nvSpPr>
        <p:spPr>
          <a:xfrm>
            <a:off x="228600" y="4251960"/>
            <a:ext cx="5029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ummTxt"/>
          <p:cNvSpPr/>
          <p:nvPr/>
        </p:nvSpPr>
        <p:spPr>
          <a:xfrm>
            <a:off x="365760" y="4251960"/>
            <a:ext cx="475488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950" b="0" dirty="0">
                <a:solidFill>
                  <a:srgbClr val="FFFFFF"/>
                </a:solidFill>
              </a:rPr>
              <a:t>結論：畫面方向 = 原始 X 光（人眼直覺）；推論空間 = 統一左側基準（最大化準確度）</a:t>
            </a:r>
          </a:p>
        </p:txBody>
      </p:sp>
      <p:sp>
        <p:nvSpPr>
          <p:cNvPr id="16" name="RCHeader"/>
          <p:cNvSpPr/>
          <p:nvPr/>
        </p:nvSpPr>
        <p:spPr>
          <a:xfrm>
            <a:off x="5440680" y="640080"/>
            <a:ext cx="3474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300" b="1" dirty="0">
                <a:solidFill>
                  <a:srgbClr val="065A82"/>
                </a:solidFill>
              </a:rPr>
              <a:t>最終機率計算公式</a:t>
            </a:r>
          </a:p>
        </p:txBody>
      </p:sp>
      <p:sp>
        <p:nvSpPr>
          <p:cNvPr id="17" name="ProbBg"/>
          <p:cNvSpPr/>
          <p:nvPr/>
        </p:nvSpPr>
        <p:spPr>
          <a:xfrm>
            <a:off x="5440680" y="960120"/>
            <a:ext cx="3474720" cy="3730752"/>
          </a:xfrm>
          <a:prstGeom prst="rect">
            <a:avLst/>
          </a:prstGeom>
          <a:solidFill>
            <a:srgbClr val="E8EEF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HierHdr"/>
          <p:cNvSpPr/>
          <p:nvPr/>
        </p:nvSpPr>
        <p:spPr>
          <a:xfrm>
            <a:off x="5550408" y="1051560"/>
            <a:ext cx="3255264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000" b="1" dirty="0">
                <a:solidFill>
                  <a:srgbClr val="065A82"/>
                </a:solidFill>
              </a:rPr>
              <a:t>階層模型輸出三個機率值：</a:t>
            </a:r>
          </a:p>
        </p:txBody>
      </p:sp>
      <p:sp>
        <p:nvSpPr>
          <p:cNvPr id="19" name="Out0Bg"/>
          <p:cNvSpPr/>
          <p:nvPr/>
        </p:nvSpPr>
        <p:spPr>
          <a:xfrm>
            <a:off x="5550408" y="1344168"/>
            <a:ext cx="3255264" cy="292608"/>
          </a:xfrm>
          <a:prstGeom prst="rect">
            <a:avLst/>
          </a:prstGeom>
          <a:solidFill>
            <a:srgbClr val="E8F2F8"/>
          </a:solidFill>
          <a:ln w="15000">
            <a:solidFill>
              <a:srgbClr val="065A82"/>
            </a:solidFill>
            <a:prstDash val="solid"/>
          </a:ln>
        </p:spPr>
      </p:sp>
      <p:sp>
        <p:nvSpPr>
          <p:cNvPr id="20" name="Out0T"/>
          <p:cNvSpPr/>
          <p:nvPr/>
        </p:nvSpPr>
        <p:spPr>
          <a:xfrm>
            <a:off x="5605272" y="1344168"/>
            <a:ext cx="314553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65A82"/>
                </a:solidFill>
              </a:rPr>
              <a:t>P(Stage4)  ←  Model 1 輸出</a:t>
            </a:r>
          </a:p>
        </p:txBody>
      </p:sp>
      <p:sp>
        <p:nvSpPr>
          <p:cNvPr id="21" name="Out1Bg"/>
          <p:cNvSpPr/>
          <p:nvPr/>
        </p:nvSpPr>
        <p:spPr>
          <a:xfrm>
            <a:off x="5550408" y="1691640"/>
            <a:ext cx="3255264" cy="292608"/>
          </a:xfrm>
          <a:prstGeom prst="rect">
            <a:avLst/>
          </a:prstGeom>
          <a:solidFill>
            <a:srgbClr val="E8F8F4"/>
          </a:solidFill>
          <a:ln w="15000">
            <a:solidFill>
              <a:srgbClr val="028090"/>
            </a:solidFill>
            <a:prstDash val="solid"/>
          </a:ln>
        </p:spPr>
      </p:sp>
      <p:sp>
        <p:nvSpPr>
          <p:cNvPr id="22" name="Out1T"/>
          <p:cNvSpPr/>
          <p:nvPr/>
        </p:nvSpPr>
        <p:spPr>
          <a:xfrm>
            <a:off x="5605272" y="1691640"/>
            <a:ext cx="314553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28090"/>
                </a:solidFill>
              </a:rPr>
              <a:t>P(Stage1_nodal)  ←  Model 2 輸出</a:t>
            </a:r>
          </a:p>
        </p:txBody>
      </p:sp>
      <p:sp>
        <p:nvSpPr>
          <p:cNvPr id="23" name="Out2Bg"/>
          <p:cNvSpPr/>
          <p:nvPr/>
        </p:nvSpPr>
        <p:spPr>
          <a:xfrm>
            <a:off x="5550408" y="2039112"/>
            <a:ext cx="3255264" cy="292608"/>
          </a:xfrm>
          <a:prstGeom prst="rect">
            <a:avLst/>
          </a:prstGeom>
          <a:solidFill>
            <a:srgbClr val="F3F0F8"/>
          </a:solidFill>
          <a:ln w="15000">
            <a:solidFill>
              <a:srgbClr val="7B6B8D"/>
            </a:solidFill>
            <a:prstDash val="solid"/>
          </a:ln>
        </p:spPr>
      </p:sp>
      <p:sp>
        <p:nvSpPr>
          <p:cNvPr id="24" name="Out2T"/>
          <p:cNvSpPr/>
          <p:nvPr/>
        </p:nvSpPr>
        <p:spPr>
          <a:xfrm>
            <a:off x="5605272" y="2039112"/>
            <a:ext cx="314553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7B6B8D"/>
                </a:solidFill>
              </a:rPr>
              <a:t>P(Stage3_nodal)  ←  Model 3 輸出</a:t>
            </a:r>
          </a:p>
        </p:txBody>
      </p:sp>
      <p:sp>
        <p:nvSpPr>
          <p:cNvPr id="25" name="Div"/>
          <p:cNvSpPr/>
          <p:nvPr/>
        </p:nvSpPr>
        <p:spPr>
          <a:xfrm>
            <a:off x="5550408" y="2423160"/>
            <a:ext cx="3255264" cy="320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FinalHdr"/>
          <p:cNvSpPr/>
          <p:nvPr/>
        </p:nvSpPr>
        <p:spPr>
          <a:xfrm>
            <a:off x="5550408" y="2468880"/>
            <a:ext cx="3255264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1000" b="1" dirty="0">
                <a:solidFill>
                  <a:srgbClr val="065A82"/>
                </a:solidFill>
              </a:rPr>
              <a:t>最終輸出各期機率：</a:t>
            </a:r>
          </a:p>
        </p:txBody>
      </p:sp>
      <p:sp>
        <p:nvSpPr>
          <p:cNvPr id="27" name="F0Bg"/>
          <p:cNvSpPr/>
          <p:nvPr/>
        </p:nvSpPr>
        <p:spPr>
          <a:xfrm>
            <a:off x="5550408" y="2752344"/>
            <a:ext cx="3255264" cy="347472"/>
          </a:xfrm>
          <a:prstGeom prst="rect">
            <a:avLst/>
          </a:prstGeom>
          <a:solidFill>
            <a:srgbClr val="E8F2F8"/>
          </a:solidFill>
          <a:ln w="15000">
            <a:solidFill>
              <a:srgbClr val="065A82"/>
            </a:solidFill>
            <a:prstDash val="solid"/>
          </a:ln>
        </p:spPr>
      </p:sp>
      <p:sp>
        <p:nvSpPr>
          <p:cNvPr id="28" name="F0L"/>
          <p:cNvSpPr/>
          <p:nvPr/>
        </p:nvSpPr>
        <p:spPr>
          <a:xfrm>
            <a:off x="5577840" y="2752344"/>
            <a:ext cx="594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880" b="1" dirty="0">
                <a:solidFill>
                  <a:srgbClr val="065A82"/>
                </a:solidFill>
              </a:rPr>
              <a:t>Stage 4</a:t>
            </a:r>
          </a:p>
        </p:txBody>
      </p:sp>
      <p:sp>
        <p:nvSpPr>
          <p:cNvPr id="29" name="F0F"/>
          <p:cNvSpPr/>
          <p:nvPr/>
        </p:nvSpPr>
        <p:spPr>
          <a:xfrm>
            <a:off x="6190488" y="2752344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840" b="0" dirty="0">
                <a:solidFill>
                  <a:srgbClr val="1A2A3A"/>
                </a:solidFill>
              </a:rPr>
              <a:t>P(Stage4)</a:t>
            </a:r>
          </a:p>
        </p:txBody>
      </p:sp>
      <p:sp>
        <p:nvSpPr>
          <p:cNvPr id="30" name="F1Bg"/>
          <p:cNvSpPr/>
          <p:nvPr/>
        </p:nvSpPr>
        <p:spPr>
          <a:xfrm>
            <a:off x="5550408" y="3154680"/>
            <a:ext cx="3255264" cy="347472"/>
          </a:xfrm>
          <a:prstGeom prst="rect">
            <a:avLst/>
          </a:prstGeom>
          <a:solidFill>
            <a:srgbClr val="E8F8F4"/>
          </a:solidFill>
          <a:ln w="15000">
            <a:solidFill>
              <a:srgbClr val="028090"/>
            </a:solidFill>
            <a:prstDash val="solid"/>
          </a:ln>
        </p:spPr>
      </p:sp>
      <p:sp>
        <p:nvSpPr>
          <p:cNvPr id="31" name="F1L"/>
          <p:cNvSpPr/>
          <p:nvPr/>
        </p:nvSpPr>
        <p:spPr>
          <a:xfrm>
            <a:off x="5577840" y="3154680"/>
            <a:ext cx="594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880" b="1" dirty="0">
                <a:solidFill>
                  <a:srgbClr val="028090"/>
                </a:solidFill>
              </a:rPr>
              <a:t>Stage 1</a:t>
            </a:r>
          </a:p>
        </p:txBody>
      </p:sp>
      <p:sp>
        <p:nvSpPr>
          <p:cNvPr id="32" name="F1F"/>
          <p:cNvSpPr/>
          <p:nvPr/>
        </p:nvSpPr>
        <p:spPr>
          <a:xfrm>
            <a:off x="6190488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840" b="0" dirty="0">
                <a:solidFill>
                  <a:srgbClr val="1A2A3A"/>
                </a:solidFill>
              </a:rPr>
              <a:t>P(Not_4) × P(Stage1_nodal)</a:t>
            </a:r>
          </a:p>
        </p:txBody>
      </p:sp>
      <p:sp>
        <p:nvSpPr>
          <p:cNvPr id="33" name="F2Bg"/>
          <p:cNvSpPr/>
          <p:nvPr/>
        </p:nvSpPr>
        <p:spPr>
          <a:xfrm>
            <a:off x="5550408" y="3557016"/>
            <a:ext cx="3255264" cy="347472"/>
          </a:xfrm>
          <a:prstGeom prst="rect">
            <a:avLst/>
          </a:prstGeom>
          <a:solidFill>
            <a:srgbClr val="F3F0F8"/>
          </a:solidFill>
          <a:ln w="15000">
            <a:solidFill>
              <a:srgbClr val="7B6B8D"/>
            </a:solidFill>
            <a:prstDash val="solid"/>
          </a:ln>
        </p:spPr>
      </p:sp>
      <p:sp>
        <p:nvSpPr>
          <p:cNvPr id="34" name="F2L"/>
          <p:cNvSpPr/>
          <p:nvPr/>
        </p:nvSpPr>
        <p:spPr>
          <a:xfrm>
            <a:off x="5577840" y="3557016"/>
            <a:ext cx="594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880" b="1" dirty="0">
                <a:solidFill>
                  <a:srgbClr val="7B6B8D"/>
                </a:solidFill>
              </a:rPr>
              <a:t>Stage 3</a:t>
            </a:r>
          </a:p>
        </p:txBody>
      </p:sp>
      <p:sp>
        <p:nvSpPr>
          <p:cNvPr id="35" name="F2F"/>
          <p:cNvSpPr/>
          <p:nvPr/>
        </p:nvSpPr>
        <p:spPr>
          <a:xfrm>
            <a:off x="6190488" y="3557016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840" b="0" dirty="0">
                <a:solidFill>
                  <a:srgbClr val="1A2A3A"/>
                </a:solidFill>
              </a:rPr>
              <a:t>P(Not_4) × (1−P(Stage1)) × P(Stage3_nodal)</a:t>
            </a:r>
          </a:p>
        </p:txBody>
      </p:sp>
      <p:sp>
        <p:nvSpPr>
          <p:cNvPr id="36" name="F3Bg"/>
          <p:cNvSpPr/>
          <p:nvPr/>
        </p:nvSpPr>
        <p:spPr>
          <a:xfrm>
            <a:off x="5550408" y="3959352"/>
            <a:ext cx="3255264" cy="347472"/>
          </a:xfrm>
          <a:prstGeom prst="rect">
            <a:avLst/>
          </a:prstGeom>
          <a:solidFill>
            <a:srgbClr val="FFF3E0"/>
          </a:solidFill>
          <a:ln w="15000">
            <a:solidFill>
              <a:srgbClr val="B8541E"/>
            </a:solidFill>
            <a:prstDash val="solid"/>
          </a:ln>
        </p:spPr>
      </p:sp>
      <p:sp>
        <p:nvSpPr>
          <p:cNvPr id="37" name="F3L"/>
          <p:cNvSpPr/>
          <p:nvPr/>
        </p:nvSpPr>
        <p:spPr>
          <a:xfrm>
            <a:off x="5577840" y="3959352"/>
            <a:ext cx="594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zh-TW" sz="880" b="1" dirty="0">
                <a:solidFill>
                  <a:srgbClr val="B8541E"/>
                </a:solidFill>
              </a:rPr>
              <a:t>Stage 2</a:t>
            </a:r>
          </a:p>
        </p:txBody>
      </p:sp>
      <p:sp>
        <p:nvSpPr>
          <p:cNvPr id="38" name="F3F"/>
          <p:cNvSpPr/>
          <p:nvPr/>
        </p:nvSpPr>
        <p:spPr>
          <a:xfrm>
            <a:off x="6190488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840" b="0" dirty="0">
                <a:solidFill>
                  <a:srgbClr val="1A2A3A"/>
                </a:solidFill>
              </a:rPr>
              <a:t>P(Not_4) × (1−P(Stage1)) × (1−P(Stage3))</a:t>
            </a: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C6C15729-1585-61DD-F99A-FD4F501629C1}"/>
              </a:ext>
            </a:extLst>
          </p:cNvPr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討論與研究限制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58368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8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討論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3840480" cy="96012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70432"/>
            <a:ext cx="54864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2/3 辨識挑戰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兩期特徵相近，需引入更多影像切面（正位+側位）或 MRI 資訊輔助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49424"/>
            <a:ext cx="3840480" cy="96012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49424"/>
            <a:ext cx="54864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策略成效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在 Stage 1 </a:t>
            </a:r>
            <a:r>
              <a:rPr lang="en-US" sz="11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偵測顯示優勢，說明單一架構</a:t>
            </a:r>
            <a:r>
              <a:rPr lang="zh-TW" alt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</a:t>
            </a:r>
            <a:r>
              <a:rPr lang="en-US" sz="11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不穩定性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3840480" cy="96012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28416"/>
            <a:ext cx="54864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醫學驗證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熱力圖與骨科醫師臨床觀察吻合，支持模型決策依據的合理性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65836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658368"/>
            <a:ext cx="4114800" cy="411480"/>
          </a:xfrm>
          <a:prstGeom prst="rect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658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研究限制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00600" y="1207008"/>
            <a:ext cx="320040" cy="320040"/>
          </a:xfrm>
          <a:prstGeom prst="ellipse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2070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資料量有限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12080" y="1444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影像數量仍有限，未來需補充更多資料</a:t>
            </a:r>
          </a:p>
        </p:txBody>
      </p:sp>
      <p:sp>
        <p:nvSpPr>
          <p:cNvPr id="27" name="Shape 25"/>
          <p:cNvSpPr/>
          <p:nvPr/>
        </p:nvSpPr>
        <p:spPr>
          <a:xfrm>
            <a:off x="4800600" y="2011680"/>
            <a:ext cx="320040" cy="320040"/>
          </a:xfrm>
          <a:prstGeom prst="ellipse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011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目前沒有健康的資料</a:t>
            </a:r>
          </a:p>
        </p:txBody>
      </p:sp>
      <p:sp>
        <p:nvSpPr>
          <p:cNvPr id="30" name="Text 28"/>
          <p:cNvSpPr/>
          <p:nvPr/>
        </p:nvSpPr>
        <p:spPr>
          <a:xfrm>
            <a:off x="5212080" y="22494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可以獲取沒有問題的病人的髖關節，可和</a:t>
            </a:r>
            <a:r>
              <a:rPr lang="en-US" altLang="zh-TW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</a:t>
            </a: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之間進行深度學習，用來發現病人是否有前期的問題</a:t>
            </a:r>
          </a:p>
        </p:txBody>
      </p:sp>
      <p:sp>
        <p:nvSpPr>
          <p:cNvPr id="31" name="Shape 29"/>
          <p:cNvSpPr/>
          <p:nvPr/>
        </p:nvSpPr>
        <p:spPr>
          <a:xfrm>
            <a:off x="4800600" y="2816352"/>
            <a:ext cx="320040" cy="320040"/>
          </a:xfrm>
          <a:prstGeom prst="ellipse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2816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前瞻性驗證待進行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12080" y="30540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需要在真實臨床流程中進行前瞻性驗證，評估臨床實際效益</a:t>
            </a:r>
          </a:p>
        </p:txBody>
      </p:sp>
      <p:sp>
        <p:nvSpPr>
          <p:cNvPr id="35" name="Shape 33"/>
          <p:cNvSpPr/>
          <p:nvPr/>
        </p:nvSpPr>
        <p:spPr>
          <a:xfrm>
            <a:off x="4800600" y="3621024"/>
            <a:ext cx="320040" cy="320040"/>
          </a:xfrm>
          <a:prstGeom prst="ellipse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621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網站系統優化</a:t>
            </a:r>
          </a:p>
        </p:txBody>
      </p:sp>
      <p:sp>
        <p:nvSpPr>
          <p:cNvPr id="38" name="Text 36"/>
          <p:cNvSpPr/>
          <p:nvPr/>
        </p:nvSpPr>
        <p:spPr>
          <a:xfrm>
            <a:off x="5212080" y="3858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希望一次能匯入數張圖片，更有效率幫助醫生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結論與研究貢獻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altLang="zh-TW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成功建立一套端對端髖關節 X 光影像 Ficat 分期 AI 系統，涵蓋 ROI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偵測、階層分類、</a:t>
            </a:r>
            <a:r>
              <a:rPr lang="en-US" altLang="zh-TW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TW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分析與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應用整合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06040" cy="3291840"/>
          </a:xfrm>
          <a:prstGeom prst="rect">
            <a:avLst/>
          </a:prstGeom>
          <a:solidFill>
            <a:srgbClr val="0D223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727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技術貢獻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YOLOv8 自動 ROI 偵測流程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81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階層式二元分類策略設計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75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Stacking Ensemble 提升 Stage 1 準確率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606040" cy="3291840"/>
          </a:xfrm>
          <a:prstGeom prst="rect">
            <a:avLst/>
          </a:prstGeom>
          <a:solidFill>
            <a:srgbClr val="0D223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5727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臨床貢獻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487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Grad-CAM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zh-TW" alt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診斷輔助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 系統可直接整合至臨床工作流程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675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減少醫師判讀負荷，提高診斷效率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508760"/>
            <a:ext cx="2606040" cy="3291840"/>
          </a:xfrm>
          <a:prstGeom prst="rect">
            <a:avLst/>
          </a:prstGeom>
          <a:solidFill>
            <a:srgbClr val="0D223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5727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3504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學術貢獻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2487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提供髖關節 X 光 Ficat 分期深度學習基準方法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081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t-SNE 分析揭示各期特徵可分離性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3675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公開模型權重促進後續研究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感謝仁愛醫院骨科合作醫師、指導教授及博士師長的指導與支持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59152"/>
            <a:ext cx="8046720" cy="1188720"/>
          </a:xfrm>
          <a:prstGeom prst="rect">
            <a:avLst/>
          </a:prstGeom>
          <a:solidFill>
            <a:srgbClr val="0D223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91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歡迎各位老師和醫師提問與指教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github.com/ericadgjl-huang/Renai-Hospital-DL-Project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YOLOv8  ·  DenseNet121  ·  EfficientNet-B0  ·  ResNet50  ·  ConvNeXt  ·  Stacking Ensemble  ·  Grad-CAM  ·  Flask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仁愛醫院 髖關節 Ficat 分期 Deep Learning Project  · 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1975</Words>
  <Application>Microsoft Office PowerPoint</Application>
  <PresentationFormat>如螢幕大小 (16:9)</PresentationFormat>
  <Paragraphs>416</Paragraphs>
  <Slides>17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仁愛醫院 髖關節 X 光影像 Ficat 分期深度學習系統</dc:title>
  <dc:subject>PptxGenJS Presentation</dc:subject>
  <dc:creator>Renai Hospital DL Team</dc:creator>
  <cp:lastModifiedBy>Eric Huang</cp:lastModifiedBy>
  <cp:revision>5</cp:revision>
  <dcterms:created xsi:type="dcterms:W3CDTF">2026-03-25T13:28:55Z</dcterms:created>
  <dcterms:modified xsi:type="dcterms:W3CDTF">2026-03-26T07:32:20Z</dcterms:modified>
</cp:coreProperties>
</file>